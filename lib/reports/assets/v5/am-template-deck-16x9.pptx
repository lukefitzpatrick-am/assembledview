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81" r:id="rId36"/>
    <p:sldId id="259" r:id="rId5"/>
    <p:sldId id="260" r:id="rId6"/>
    <p:sldId id="261" r:id="rId7"/>
    <p:sldId id="262" r:id="rId8"/>
    <p:sldId id="263" r:id="rId9"/>
    <p:sldId id="282" r:id="rId37"/>
    <p:sldId id="283" r:id="rId38"/>
    <p:sldId id="284" r:id="rId3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9" r:id="rId20"/>
    <p:sldId id="280" r:id="rId21"/>
    <p:sldId id="275" r:id="rId22"/>
    <p:sldId id="276" r:id="rId23"/>
    <p:sldId id="277" r:id="rId24"/>
    <p:sldId id="278" r:id="rId25"/>
  </p:sldIdLst>
  <p:sldSz cx="12192000" cy="6858000"/>
  <p:notesSz cx="6858000" cy="12192000"/>
  <p:embeddedFontLst>
    <p:embeddedFont>
      <p:font typeface="Instrument Serif" pitchFamily="2" charset="0"/>
      <p:regular r:id="rId27"/>
      <p:italic r:id="rId28"/>
    </p:embeddedFont>
    <p:embeddedFont>
      <p:font typeface="Plus Jakarta Sans" pitchFamily="2" charset="0"/>
      <p:regular r:id="rId29"/>
      <p:bold r:id="rId30"/>
    </p:embeddedFont>
    <p:embeddedFont>
      <p:font typeface="Plus Jakarta Sans ExtraBold" pitchFamily="2" charset="0"/>
      <p:bold r:id="rId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0" d="100"/>
          <a:sy n="120" d="100"/>
        </p:scale>
        <p:origin x="198" y="-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CFC8BA"/>
            </a:solidFill>
            <a:effectLst/>
          </c:spPr>
          <c:invertIfNegative val="0"/>
          <c:dLbls>
            <c:numFmt formatCode="\$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0F1D13"/>
                    </a:solidFill>
                    <a:latin typeface="+mn-l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68</c:v>
                </c:pt>
                <c:pt idx="1">
                  <c:v>66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71-4A49-86F8-97DB986884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the shift</c:v>
                </c:pt>
              </c:strCache>
            </c:strRef>
          </c:tx>
          <c:spPr>
            <a:solidFill>
              <a:srgbClr val="246646"/>
            </a:solidFill>
            <a:effectLst/>
          </c:spPr>
          <c:invertIfNegative val="0"/>
          <c:dLbls>
            <c:numFmt formatCode="\$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0F1D13"/>
                    </a:solidFill>
                    <a:latin typeface="+mn-l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59</c:v>
                </c:pt>
                <c:pt idx="3">
                  <c:v>52</c:v>
                </c:pt>
                <c:pt idx="4">
                  <c:v>47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71-4A49-86F8-97DB986884F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Latest</c:v>
                </c:pt>
              </c:strCache>
            </c:strRef>
          </c:tx>
          <c:spPr>
            <a:solidFill>
              <a:srgbClr val="B5D337"/>
            </a:solidFill>
            <a:effectLst/>
          </c:spPr>
          <c:invertIfNegative val="0"/>
          <c:dLbls>
            <c:numFmt formatCode="\$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0F1D13"/>
                    </a:solidFill>
                    <a:latin typeface="+mn-l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A71-4A49-86F8-97DB986884F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A5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6A5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3363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image" Target="../media/am-v5-17-image-1002-1.png"/><Relationship Id="rId2" Type="http://schemas.openxmlformats.org/officeDocument/2006/relationships/slideMaster" Target="../slideMasters/slideMaster1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image" Target="../media/am-v5-18-image-1003-1.png"/><Relationship Id="rId2" Type="http://schemas.openxmlformats.org/officeDocument/2006/relationships/slideMaster" Target="../slideMasters/slideMaster1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image" Target="../media/am-v5-19-image-1004-1.png"/><Relationship Id="rId2" Type="http://schemas.openxmlformats.org/officeDocument/2006/relationships/slideMaster" Target="../slideMasters/slideMaster1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image" Target="../media/am-v5-20-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- Black">
    <p:bg>
      <p:bgPr>
        <a:solidFill>
          <a:srgbClr val="0F1D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mbled Medi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2011680" cy="298094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2788920" y="457200"/>
            <a:ext cx="3657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rgbClr val="AEB9B0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000" dirty="0">
                <a:solidFill>
                  <a:srgbClr val="AEB9B0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x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pic" idx="102" hasCustomPrompt="1"/>
          </p:nvPr>
        </p:nvSpPr>
        <p:spPr>
          <a:xfrm>
            <a:off x="3383280" y="320040"/>
            <a:ext cx="2011680" cy="777240"/>
          </a:xfrm>
          <a:prstGeom prst="rect">
            <a:avLst/>
          </a:prstGeom>
          <a:solidFill>
            <a:srgbClr val="E4DED2"/>
          </a:solidFill>
          <a:ln/>
        </p:spPr>
        <p:txBody>
          <a:bodyPr wrap="square" rtlCol="0"/>
          <a:lstStyle>
            <a:lvl1pPr marL="0" indent="0" algn="ctr">
              <a:buNone/>
              <a:defRPr lang="en-US" sz="1100" dirty="0">
                <a:solidFill>
                  <a:srgbClr val="6B6A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100" dirty="0">
                <a:solidFill>
                  <a:srgbClr val="6B6A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 logo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- Sand">
    <p:bg>
      <p:bgPr>
        <a:solidFill>
          <a:srgbClr val="EFE9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mbled Medi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2011680" cy="298094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2788920" y="457200"/>
            <a:ext cx="3657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rgbClr val="6B6A5E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000" dirty="0">
                <a:solidFill>
                  <a:srgbClr val="6B6A5E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x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pic" idx="102" hasCustomPrompt="1"/>
          </p:nvPr>
        </p:nvSpPr>
        <p:spPr>
          <a:xfrm>
            <a:off x="3383280" y="320040"/>
            <a:ext cx="2011680" cy="777240"/>
          </a:xfrm>
          <a:prstGeom prst="rect">
            <a:avLst/>
          </a:prstGeom>
          <a:solidFill>
            <a:srgbClr val="E4DED2"/>
          </a:solidFill>
          <a:ln/>
        </p:spPr>
        <p:txBody>
          <a:bodyPr wrap="square" rtlCol="0"/>
          <a:lstStyle>
            <a:lvl1pPr marL="0" indent="0" algn="ctr">
              <a:buNone/>
              <a:defRPr lang="en-US" sz="1100" dirty="0">
                <a:solidFill>
                  <a:srgbClr val="6B6A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100" dirty="0">
                <a:solidFill>
                  <a:srgbClr val="6B6A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 logo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- Black">
    <p:bg>
      <p:bgPr>
        <a:solidFill>
          <a:srgbClr val="0F1D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pic" idx="100" hasCustomPrompt="1"/>
          </p:nvPr>
        </p:nvSpPr>
        <p:spPr>
          <a:xfrm>
            <a:off x="548640" y="640080"/>
            <a:ext cx="3108960" cy="6217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4DED2"/>
          </a:solidFill>
          <a:ln/>
        </p:spPr>
        <p:txBody>
          <a:bodyPr wrap="square" rtlCol="0"/>
          <a:lstStyle>
            <a:lvl1pPr marL="0" indent="0" algn="ctr">
              <a:buNone/>
              <a:defRPr lang="en-US" sz="1100" dirty="0">
                <a:solidFill>
                  <a:srgbClr val="6B6A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100" dirty="0">
                <a:solidFill>
                  <a:srgbClr val="6B6A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Photo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- Sand">
    <p:bg>
      <p:bgPr>
        <a:solidFill>
          <a:srgbClr val="EFE9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pic" idx="100" hasCustomPrompt="1"/>
          </p:nvPr>
        </p:nvSpPr>
        <p:spPr>
          <a:xfrm>
            <a:off x="548640" y="640080"/>
            <a:ext cx="3108960" cy="6217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4DED2"/>
          </a:solidFill>
          <a:ln/>
        </p:spPr>
        <p:txBody>
          <a:bodyPr wrap="square" rtlCol="0"/>
          <a:lstStyle>
            <a:lvl1pPr marL="0" indent="0" algn="ctr">
              <a:buNone/>
              <a:defRPr lang="en-US" sz="1100" dirty="0">
                <a:solidFill>
                  <a:srgbClr val="6B6A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100" dirty="0">
                <a:solidFill>
                  <a:srgbClr val="6B6A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Photo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- Black">
    <p:bg>
      <p:bgPr>
        <a:solidFill>
          <a:srgbClr val="0F1D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1280160" y="1463040"/>
            <a:ext cx="960120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lnSpc>
                <a:spcPct val="108000"/>
              </a:lnSpc>
              <a:buNone/>
              <a:defRPr lang="en-US" sz="360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defRPr>
            </a:lvl1pPr>
          </a:lstStyle>
          <a:p>
            <a:pPr marL="0" indent="0" algn="ctr">
              <a:lnSpc>
                <a:spcPct val="108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One statement worth a whole slide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1280160" y="5029200"/>
            <a:ext cx="9601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300" dirty="0">
                <a:solidFill>
                  <a:srgbClr val="C9D3C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300" dirty="0">
                <a:solidFill>
                  <a:srgbClr val="C9D3C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Source or supporting line</a:t>
            </a:r>
            <a:endParaRPr lang="en-US" sz="1300" dirty="0"/>
          </a:p>
        </p:txBody>
      </p:sp>
      <p:pic>
        <p:nvPicPr>
          <p:cNvPr id="4" name="Image 0" descr="Assembled Medi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987552" cy="1463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EB9B0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- Sky">
    <p:bg>
      <p:bgPr>
        <a:solidFill>
          <a:srgbClr val="49C7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1280160" y="1463040"/>
            <a:ext cx="960120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lnSpc>
                <a:spcPct val="108000"/>
              </a:lnSpc>
              <a:buNone/>
              <a:defRPr lang="en-US" sz="36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defRPr>
            </a:lvl1pPr>
          </a:lstStyle>
          <a:p>
            <a:pPr marL="0" indent="0" algn="ctr">
              <a:lnSpc>
                <a:spcPct val="108000"/>
              </a:lnSpc>
              <a:buNone/>
            </a:pPr>
            <a:r>
              <a:rPr lang="en-US" sz="36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One statement worth a whole slide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1280160" y="5029200"/>
            <a:ext cx="9601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3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3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Source or supporting line</a:t>
            </a:r>
            <a:endParaRPr lang="en-US" sz="1300" dirty="0"/>
          </a:p>
        </p:txBody>
      </p:sp>
      <p:pic>
        <p:nvPicPr>
          <p:cNvPr id="4" name="Image 0" descr="Assembled Medi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987552" cy="1463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A5E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6424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95000"/>
              </a:lnSpc>
              <a:buNone/>
              <a:defRPr lang="en-US" sz="36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defRPr>
            </a:lvl1pPr>
          </a:lstStyle>
          <a:p>
            <a:pPr marL="0" indent="0" algn="l">
              <a:lnSpc>
                <a:spcPct val="95000"/>
              </a:lnSpc>
              <a:buNone/>
            </a:pPr>
            <a:r>
              <a:rPr lang="en-US" sz="36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Headline that states the point</a:t>
            </a:r>
            <a:endParaRPr lang="en-US" sz="3600" dirty="0"/>
          </a:p>
        </p:txBody>
      </p:sp>
      <p:pic>
        <p:nvPicPr>
          <p:cNvPr id="3" name="Image 0" descr="Assembled Medi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987552" cy="1463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A5E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Sand">
    <p:bg>
      <p:bgPr>
        <a:solidFill>
          <a:srgbClr val="EFE9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6424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95000"/>
              </a:lnSpc>
              <a:buNone/>
              <a:defRPr lang="en-US" sz="36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defRPr>
            </a:lvl1pPr>
          </a:lstStyle>
          <a:p>
            <a:pPr marL="0" indent="0" algn="l">
              <a:lnSpc>
                <a:spcPct val="95000"/>
              </a:lnSpc>
              <a:buNone/>
            </a:pPr>
            <a:r>
              <a:rPr lang="en-US" sz="36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Headline that states the point</a:t>
            </a:r>
            <a:endParaRPr lang="en-US" sz="3600" dirty="0"/>
          </a:p>
        </p:txBody>
      </p:sp>
      <p:pic>
        <p:nvPicPr>
          <p:cNvPr id="3" name="Image 0" descr="Assembled Medi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987552" cy="1463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A5E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Black">
    <p:bg>
      <p:bgPr>
        <a:solidFill>
          <a:srgbClr val="0F1D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6424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95000"/>
              </a:lnSpc>
              <a:buNone/>
              <a:defRPr lang="en-US" sz="360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defRPr>
            </a:lvl1pPr>
          </a:lstStyle>
          <a:p>
            <a:pPr marL="0" indent="0" algn="l">
              <a:lnSpc>
                <a:spcPct val="95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Headline that states the point</a:t>
            </a:r>
            <a:endParaRPr lang="en-US" sz="3600" dirty="0"/>
          </a:p>
        </p:txBody>
      </p:sp>
      <p:pic>
        <p:nvPicPr>
          <p:cNvPr id="3" name="Image 0" descr="Assembled Medi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987552" cy="1463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EB9B0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6424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95000"/>
              </a:lnSpc>
              <a:buNone/>
              <a:defRPr lang="en-US" sz="36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defRPr>
            </a:lvl1pPr>
          </a:lstStyle>
          <a:p>
            <a:pPr marL="0" indent="0" algn="l">
              <a:lnSpc>
                <a:spcPct val="95000"/>
              </a:lnSpc>
              <a:buNone/>
            </a:pPr>
            <a:r>
              <a:rPr lang="en-US" sz="36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Headline that states the point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828800"/>
            <a:ext cx="11064240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spcAft>
                <a:spcPts val="800"/>
              </a:spcAft>
              <a:buNone/>
              <a:defRPr lang="en-US" sz="1600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1600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Text</a:t>
            </a:r>
            <a:endParaRPr lang="en-US" sz="1600" dirty="0"/>
          </a:p>
        </p:txBody>
      </p:sp>
      <p:pic>
        <p:nvPicPr>
          <p:cNvPr id="4" name="Image 0" descr="Assembled Medi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987552" cy="1463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A5E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5852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95000"/>
              </a:lnSpc>
              <a:buNone/>
              <a:defRPr lang="en-US" sz="38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defRPr>
            </a:lvl1pPr>
          </a:lstStyle>
          <a:p>
            <a:pPr marL="0" indent="0" algn="l">
              <a:lnSpc>
                <a:spcPct val="95000"/>
              </a:lnSpc>
              <a:buNone/>
            </a:pPr>
            <a:r>
              <a:rPr lang="en-US" sz="38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Headline that states the point</a:t>
            </a: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651760"/>
            <a:ext cx="566928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spcAft>
                <a:spcPts val="800"/>
              </a:spcAft>
              <a:buNone/>
              <a:defRPr lang="en-US" sz="15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15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Text</a:t>
            </a:r>
            <a:endParaRPr lang="en-US" sz="1500" dirty="0"/>
          </a:p>
        </p:txBody>
      </p:sp>
      <p:sp>
        <p:nvSpPr>
          <p:cNvPr id="4" name="Text 0"/>
          <p:cNvSpPr>
            <a:spLocks noGrp="1"/>
          </p:cNvSpPr>
          <p:nvPr>
            <p:ph type="pic" idx="102" hasCustomPrompt="1"/>
          </p:nvPr>
        </p:nvSpPr>
        <p:spPr>
          <a:xfrm>
            <a:off x="6949440" y="548640"/>
            <a:ext cx="3291840" cy="63093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4DED2"/>
          </a:solidFill>
          <a:ln/>
        </p:spPr>
        <p:txBody>
          <a:bodyPr wrap="square" rtlCol="0"/>
          <a:lstStyle>
            <a:lvl1pPr marL="0" indent="0" algn="ctr">
              <a:buNone/>
              <a:defRPr lang="en-US" sz="1100" dirty="0">
                <a:solidFill>
                  <a:srgbClr val="6B6A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100" dirty="0">
                <a:solidFill>
                  <a:srgbClr val="6B6A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Photo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- Black">
    <p:bg>
      <p:bgPr>
        <a:solidFill>
          <a:srgbClr val="0F1D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mbled Medi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2194560" cy="324612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011680"/>
            <a:ext cx="658368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90000"/>
              </a:lnSpc>
              <a:buNone/>
              <a:defRPr lang="en-US" sz="640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defRPr>
            </a:lvl1pPr>
          </a:lstStyle>
          <a:p>
            <a:pPr marL="0" indent="0" algn="l">
              <a:lnSpc>
                <a:spcPct val="90000"/>
              </a:lnSpc>
              <a:buNone/>
            </a:pPr>
            <a:r>
              <a:rPr lang="en-US" sz="640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4572000"/>
            <a:ext cx="60350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C9D3C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rgbClr val="C9D3C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Contact details</a:t>
            </a:r>
            <a:endParaRPr lang="en-US" sz="1500" dirty="0"/>
          </a:p>
        </p:txBody>
      </p:sp>
      <p:sp>
        <p:nvSpPr>
          <p:cNvPr id="5" name="Text 0"/>
          <p:cNvSpPr>
            <a:spLocks noGrp="1"/>
          </p:cNvSpPr>
          <p:nvPr>
            <p:ph type="pic" idx="103" hasCustomPrompt="1"/>
          </p:nvPr>
        </p:nvSpPr>
        <p:spPr>
          <a:xfrm>
            <a:off x="9006840" y="914400"/>
            <a:ext cx="1417320" cy="5943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4DED2"/>
          </a:solidFill>
          <a:ln/>
        </p:spPr>
        <p:txBody>
          <a:bodyPr wrap="square" rtlCol="0"/>
          <a:lstStyle>
            <a:lvl1pPr marL="0" indent="0" algn="ctr">
              <a:buNone/>
              <a:defRPr lang="en-US" sz="1100" dirty="0">
                <a:solidFill>
                  <a:srgbClr val="6B6A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100" dirty="0">
                <a:solidFill>
                  <a:srgbClr val="6B6A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Photo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mbled Medi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987552" cy="1463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A5E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Sand">
    <p:bg>
      <p:bgPr>
        <a:solidFill>
          <a:srgbClr val="EFE9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mbled Medi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987552" cy="1463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A5E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Black">
    <p:bg>
      <p:bgPr>
        <a:solidFill>
          <a:srgbClr val="0F1D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mbled Medi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987552" cy="1463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EB9B0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rgbClr val="EFE9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448056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40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What we will cover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42062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line on what this deck is for</a:t>
            </a:r>
            <a:endParaRPr lang="en-US" sz="1500" dirty="0"/>
          </a:p>
        </p:txBody>
      </p:sp>
      <p:sp>
        <p:nvSpPr>
          <p:cNvPr id="4" name="Shape 0"/>
          <p:cNvSpPr/>
          <p:nvPr/>
        </p:nvSpPr>
        <p:spPr>
          <a:xfrm>
            <a:off x="5852160" y="1371600"/>
            <a:ext cx="5760720" cy="0"/>
          </a:xfrm>
          <a:prstGeom prst="line">
            <a:avLst/>
          </a:prstGeom>
          <a:noFill/>
          <a:ln w="9525">
            <a:solidFill>
              <a:srgbClr val="CFC8BA"/>
            </a:solidFill>
            <a:prstDash val="solid"/>
          </a:ln>
        </p:spPr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852160" y="658368"/>
            <a:ext cx="868680" cy="62179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i="1" dirty="0">
                <a:solidFill>
                  <a:srgbClr val="246646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i="1" dirty="0">
                <a:solidFill>
                  <a:srgbClr val="246646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6812280" y="658368"/>
            <a:ext cx="4800600" cy="62179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9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9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Agenda item</a:t>
            </a:r>
            <a:endParaRPr lang="en-US" sz="1900" dirty="0"/>
          </a:p>
        </p:txBody>
      </p:sp>
      <p:sp>
        <p:nvSpPr>
          <p:cNvPr id="7" name="Shape 1"/>
          <p:cNvSpPr/>
          <p:nvPr/>
        </p:nvSpPr>
        <p:spPr>
          <a:xfrm>
            <a:off x="5852160" y="2286000"/>
            <a:ext cx="5760720" cy="0"/>
          </a:xfrm>
          <a:prstGeom prst="line">
            <a:avLst/>
          </a:prstGeom>
          <a:noFill/>
          <a:ln w="9525">
            <a:solidFill>
              <a:srgbClr val="CFC8BA"/>
            </a:solidFill>
            <a:prstDash val="solid"/>
          </a:ln>
        </p:spPr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5852160" y="1572768"/>
            <a:ext cx="868680" cy="62179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i="1" dirty="0">
                <a:solidFill>
                  <a:srgbClr val="246646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i="1" dirty="0">
                <a:solidFill>
                  <a:srgbClr val="246646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2"/>
          <p:cNvSpPr/>
          <p:nvPr>
            <p:ph idx="107" type="body" hasCustomPrompt="1"/>
          </p:nvPr>
        </p:nvSpPr>
        <p:spPr>
          <a:xfrm>
            <a:off x="6812280" y="1572768"/>
            <a:ext cx="4800600" cy="62179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9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9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Agenda item</a:t>
            </a:r>
            <a:endParaRPr lang="en-US" sz="1900" dirty="0"/>
          </a:p>
        </p:txBody>
      </p:sp>
      <p:sp>
        <p:nvSpPr>
          <p:cNvPr id="10" name="Shape 2"/>
          <p:cNvSpPr/>
          <p:nvPr/>
        </p:nvSpPr>
        <p:spPr>
          <a:xfrm>
            <a:off x="5852160" y="3200400"/>
            <a:ext cx="5760720" cy="0"/>
          </a:xfrm>
          <a:prstGeom prst="line">
            <a:avLst/>
          </a:prstGeom>
          <a:noFill/>
          <a:ln w="9525">
            <a:solidFill>
              <a:srgbClr val="CFC8BA"/>
            </a:solidFill>
            <a:prstDash val="solid"/>
          </a:ln>
        </p:spPr>
      </p:sp>
      <p:sp>
        <p:nvSpPr>
          <p:cNvPr id="11" name="Text 3"/>
          <p:cNvSpPr/>
          <p:nvPr>
            <p:ph idx="109" type="body" hasCustomPrompt="1"/>
          </p:nvPr>
        </p:nvSpPr>
        <p:spPr>
          <a:xfrm>
            <a:off x="5852160" y="2487168"/>
            <a:ext cx="868680" cy="62179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i="1" dirty="0">
                <a:solidFill>
                  <a:srgbClr val="246646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i="1" dirty="0">
                <a:solidFill>
                  <a:srgbClr val="246646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3"/>
          <p:cNvSpPr/>
          <p:nvPr>
            <p:ph idx="110" type="body" hasCustomPrompt="1"/>
          </p:nvPr>
        </p:nvSpPr>
        <p:spPr>
          <a:xfrm>
            <a:off x="6812280" y="2487168"/>
            <a:ext cx="4800600" cy="62179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9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9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Agenda item</a:t>
            </a:r>
            <a:endParaRPr lang="en-US" sz="1900" dirty="0"/>
          </a:p>
        </p:txBody>
      </p:sp>
      <p:sp>
        <p:nvSpPr>
          <p:cNvPr id="13" name="Shape 3"/>
          <p:cNvSpPr/>
          <p:nvPr/>
        </p:nvSpPr>
        <p:spPr>
          <a:xfrm>
            <a:off x="5852160" y="4114800"/>
            <a:ext cx="5760720" cy="0"/>
          </a:xfrm>
          <a:prstGeom prst="line">
            <a:avLst/>
          </a:prstGeom>
          <a:noFill/>
          <a:ln w="9525">
            <a:solidFill>
              <a:srgbClr val="CFC8BA"/>
            </a:solidFill>
            <a:prstDash val="solid"/>
          </a:ln>
        </p:spPr>
      </p:sp>
      <p:sp>
        <p:nvSpPr>
          <p:cNvPr id="14" name="Text 4"/>
          <p:cNvSpPr/>
          <p:nvPr>
            <p:ph idx="112" type="body" hasCustomPrompt="1"/>
          </p:nvPr>
        </p:nvSpPr>
        <p:spPr>
          <a:xfrm>
            <a:off x="5852160" y="3401568"/>
            <a:ext cx="868680" cy="62179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i="1" dirty="0">
                <a:solidFill>
                  <a:srgbClr val="246646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i="1" dirty="0">
                <a:solidFill>
                  <a:srgbClr val="246646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04</a:t>
            </a:r>
            <a:endParaRPr lang="en-US" sz="3000" dirty="0"/>
          </a:p>
        </p:txBody>
      </p:sp>
      <p:sp>
        <p:nvSpPr>
          <p:cNvPr id="15" name="Text 4"/>
          <p:cNvSpPr/>
          <p:nvPr>
            <p:ph idx="113" type="body" hasCustomPrompt="1"/>
          </p:nvPr>
        </p:nvSpPr>
        <p:spPr>
          <a:xfrm>
            <a:off x="6812280" y="3401568"/>
            <a:ext cx="4800600" cy="62179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9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9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Agenda item</a:t>
            </a:r>
            <a:endParaRPr lang="en-US" sz="1900" dirty="0"/>
          </a:p>
        </p:txBody>
      </p:sp>
      <p:sp>
        <p:nvSpPr>
          <p:cNvPr id="16" name="Shape 4"/>
          <p:cNvSpPr/>
          <p:nvPr/>
        </p:nvSpPr>
        <p:spPr>
          <a:xfrm>
            <a:off x="5852160" y="5029200"/>
            <a:ext cx="5760720" cy="0"/>
          </a:xfrm>
          <a:prstGeom prst="line">
            <a:avLst/>
          </a:prstGeom>
          <a:noFill/>
          <a:ln w="9525">
            <a:solidFill>
              <a:srgbClr val="CFC8BA"/>
            </a:solidFill>
            <a:prstDash val="solid"/>
          </a:ln>
        </p:spPr>
      </p:sp>
      <p:sp>
        <p:nvSpPr>
          <p:cNvPr id="17" name="Text 5"/>
          <p:cNvSpPr/>
          <p:nvPr>
            <p:ph idx="115" type="body" hasCustomPrompt="1"/>
          </p:nvPr>
        </p:nvSpPr>
        <p:spPr>
          <a:xfrm>
            <a:off x="5852160" y="4315968"/>
            <a:ext cx="868680" cy="62179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i="1" dirty="0">
                <a:solidFill>
                  <a:srgbClr val="246646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i="1" dirty="0">
                <a:solidFill>
                  <a:srgbClr val="246646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05</a:t>
            </a:r>
            <a:endParaRPr lang="en-US" sz="3000" dirty="0"/>
          </a:p>
        </p:txBody>
      </p:sp>
      <p:sp>
        <p:nvSpPr>
          <p:cNvPr id="18" name="Text 5"/>
          <p:cNvSpPr/>
          <p:nvPr>
            <p:ph idx="116" type="body" hasCustomPrompt="1"/>
          </p:nvPr>
        </p:nvSpPr>
        <p:spPr>
          <a:xfrm>
            <a:off x="6812280" y="4315968"/>
            <a:ext cx="4800600" cy="62179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9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9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Agenda item</a:t>
            </a:r>
            <a:endParaRPr lang="en-US" sz="1900" dirty="0"/>
          </a:p>
        </p:txBody>
      </p:sp>
      <p:sp>
        <p:nvSpPr>
          <p:cNvPr id="19" name="Shape 5"/>
          <p:cNvSpPr/>
          <p:nvPr/>
        </p:nvSpPr>
        <p:spPr>
          <a:xfrm>
            <a:off x="5852160" y="5943600"/>
            <a:ext cx="5760720" cy="0"/>
          </a:xfrm>
          <a:prstGeom prst="line">
            <a:avLst/>
          </a:prstGeom>
          <a:noFill/>
          <a:ln w="9525">
            <a:solidFill>
              <a:srgbClr val="CFC8BA"/>
            </a:solidFill>
            <a:prstDash val="solid"/>
          </a:ln>
        </p:spPr>
      </p:sp>
      <p:sp>
        <p:nvSpPr>
          <p:cNvPr id="20" name="Text 6"/>
          <p:cNvSpPr/>
          <p:nvPr>
            <p:ph idx="118" type="body" hasCustomPrompt="1"/>
          </p:nvPr>
        </p:nvSpPr>
        <p:spPr>
          <a:xfrm>
            <a:off x="5852160" y="5230368"/>
            <a:ext cx="868680" cy="62179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i="1" dirty="0">
                <a:solidFill>
                  <a:srgbClr val="246646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i="1" dirty="0">
                <a:solidFill>
                  <a:srgbClr val="246646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06</a:t>
            </a:r>
            <a:endParaRPr lang="en-US" sz="3000" dirty="0"/>
          </a:p>
        </p:txBody>
      </p:sp>
      <p:sp>
        <p:nvSpPr>
          <p:cNvPr id="21" name="Text 6"/>
          <p:cNvSpPr/>
          <p:nvPr>
            <p:ph idx="119" type="body" hasCustomPrompt="1"/>
          </p:nvPr>
        </p:nvSpPr>
        <p:spPr>
          <a:xfrm>
            <a:off x="6812280" y="5230368"/>
            <a:ext cx="4800600" cy="62179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9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9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Agenda item</a:t>
            </a:r>
            <a:endParaRPr lang="en-US" sz="1900" dirty="0"/>
          </a:p>
        </p:txBody>
      </p:sp>
      <p:pic>
        <p:nvPicPr>
          <p:cNvPr id="22" name="Image 0" descr="Assembled Media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987552" cy="1463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A5E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6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Headline that states the point</a:t>
            </a:r>
            <a:endParaRPr lang="en-US" sz="3600" dirty="0"/>
          </a:p>
        </p:txBody>
      </p:sp>
      <p:sp>
        <p:nvSpPr>
          <p:cNvPr id="3" name="Shape 0"/>
          <p:cNvSpPr/>
          <p:nvPr/>
        </p:nvSpPr>
        <p:spPr>
          <a:xfrm>
            <a:off x="548640" y="2011680"/>
            <a:ext cx="5303520" cy="0"/>
          </a:xfrm>
          <a:prstGeom prst="line">
            <a:avLst/>
          </a:prstGeom>
          <a:noFill/>
          <a:ln w="19050">
            <a:solidFill>
              <a:srgbClr val="0F1D1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309360" y="2011680"/>
            <a:ext cx="5303520" cy="0"/>
          </a:xfrm>
          <a:prstGeom prst="line">
            <a:avLst/>
          </a:prstGeom>
          <a:noFill/>
          <a:ln w="19050">
            <a:solidFill>
              <a:srgbClr val="0F1D13"/>
            </a:solidFill>
            <a:prstDash val="solid"/>
          </a:ln>
        </p:spPr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2194560"/>
            <a:ext cx="530352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Left heading</a:t>
            </a:r>
            <a:endParaRPr lang="en-US" sz="20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548640" y="2834640"/>
            <a:ext cx="5303520" cy="3200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800"/>
              </a:spcAft>
              <a:buNone/>
              <a:defRPr lang="en-US" sz="15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Left text</a:t>
            </a:r>
            <a:endParaRPr lang="en-US" sz="15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6309360" y="2194560"/>
            <a:ext cx="530352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Right heading</a:t>
            </a:r>
            <a:endParaRPr lang="en-US" sz="20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6309360" y="2834640"/>
            <a:ext cx="5303520" cy="3200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800"/>
              </a:spcAft>
              <a:buNone/>
              <a:defRPr lang="en-US" sz="15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Right text</a:t>
            </a:r>
            <a:endParaRPr lang="en-US" sz="1500" dirty="0"/>
          </a:p>
        </p:txBody>
      </p:sp>
      <p:pic>
        <p:nvPicPr>
          <p:cNvPr id="9" name="Image 0" descr="Assembled Media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987552" cy="1463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A5E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ard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6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Headline that states the point</a:t>
            </a:r>
            <a:endParaRPr lang="en-US" sz="3600" dirty="0"/>
          </a:p>
        </p:txBody>
      </p:sp>
      <p:sp>
        <p:nvSpPr>
          <p:cNvPr id="3" name="panel"/>
          <p:cNvSpPr/>
          <p:nvPr/>
        </p:nvSpPr>
        <p:spPr>
          <a:xfrm>
            <a:off x="548640" y="2011680"/>
            <a:ext cx="3505200" cy="4069080"/>
          </a:xfrm>
          <a:prstGeom prst="roundRect">
            <a:avLst>
              <a:gd name="adj" fmla="val 4696"/>
            </a:avLst>
          </a:prstGeom>
          <a:solidFill>
            <a:srgbClr val="EFE9D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panel"/>
          <p:cNvSpPr/>
          <p:nvPr/>
        </p:nvSpPr>
        <p:spPr>
          <a:xfrm>
            <a:off x="868680" y="2331720"/>
            <a:ext cx="502920" cy="502920"/>
          </a:xfrm>
          <a:prstGeom prst="ellipse">
            <a:avLst/>
          </a:prstGeom>
          <a:solidFill>
            <a:srgbClr val="49C7EB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868680" y="3108960"/>
            <a:ext cx="28651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Heading</a:t>
            </a:r>
            <a:endParaRPr lang="en-US" sz="20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868680" y="3977640"/>
            <a:ext cx="2865120" cy="1874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Short description</a:t>
            </a:r>
            <a:endParaRPr lang="en-US" sz="1400" dirty="0"/>
          </a:p>
        </p:txBody>
      </p:sp>
      <p:sp>
        <p:nvSpPr>
          <p:cNvPr id="7" name="panel"/>
          <p:cNvSpPr/>
          <p:nvPr/>
        </p:nvSpPr>
        <p:spPr>
          <a:xfrm>
            <a:off x="4328160" y="2011680"/>
            <a:ext cx="3505200" cy="4069080"/>
          </a:xfrm>
          <a:prstGeom prst="roundRect">
            <a:avLst>
              <a:gd name="adj" fmla="val 4696"/>
            </a:avLst>
          </a:prstGeom>
          <a:solidFill>
            <a:srgbClr val="EFE9D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panel"/>
          <p:cNvSpPr/>
          <p:nvPr/>
        </p:nvSpPr>
        <p:spPr>
          <a:xfrm>
            <a:off x="4648200" y="2331720"/>
            <a:ext cx="502920" cy="502920"/>
          </a:xfrm>
          <a:prstGeom prst="ellipse">
            <a:avLst/>
          </a:prstGeom>
          <a:solidFill>
            <a:srgbClr val="246646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4"/>
          <p:cNvSpPr/>
          <p:nvPr>
            <p:ph idx="107" type="body" hasCustomPrompt="1"/>
          </p:nvPr>
        </p:nvSpPr>
        <p:spPr>
          <a:xfrm>
            <a:off x="4648200" y="3108960"/>
            <a:ext cx="28651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Heading</a:t>
            </a:r>
            <a:endParaRPr lang="en-US" sz="2000" dirty="0"/>
          </a:p>
        </p:txBody>
      </p:sp>
      <p:sp>
        <p:nvSpPr>
          <p:cNvPr id="10" name="Text 4"/>
          <p:cNvSpPr/>
          <p:nvPr>
            <p:ph idx="108" type="body" hasCustomPrompt="1"/>
          </p:nvPr>
        </p:nvSpPr>
        <p:spPr>
          <a:xfrm>
            <a:off x="4648200" y="3977640"/>
            <a:ext cx="2865120" cy="1874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Short description</a:t>
            </a:r>
            <a:endParaRPr lang="en-US" sz="1400" dirty="0"/>
          </a:p>
        </p:txBody>
      </p:sp>
      <p:sp>
        <p:nvSpPr>
          <p:cNvPr id="11" name="panel"/>
          <p:cNvSpPr/>
          <p:nvPr/>
        </p:nvSpPr>
        <p:spPr>
          <a:xfrm>
            <a:off x="8107680" y="2011680"/>
            <a:ext cx="3505200" cy="4069080"/>
          </a:xfrm>
          <a:prstGeom prst="roundRect">
            <a:avLst>
              <a:gd name="adj" fmla="val 4696"/>
            </a:avLst>
          </a:prstGeom>
          <a:solidFill>
            <a:srgbClr val="EFE9D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panel"/>
          <p:cNvSpPr/>
          <p:nvPr/>
        </p:nvSpPr>
        <p:spPr>
          <a:xfrm>
            <a:off x="8427720" y="2331720"/>
            <a:ext cx="502920" cy="502920"/>
          </a:xfrm>
          <a:prstGeom prst="ellipse">
            <a:avLst/>
          </a:prstGeom>
          <a:solidFill>
            <a:srgbClr val="B5D337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6"/>
          <p:cNvSpPr/>
          <p:nvPr>
            <p:ph idx="111" type="body" hasCustomPrompt="1"/>
          </p:nvPr>
        </p:nvSpPr>
        <p:spPr>
          <a:xfrm>
            <a:off x="8427720" y="3108960"/>
            <a:ext cx="28651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Heading</a:t>
            </a:r>
            <a:endParaRPr lang="en-US" sz="2000" dirty="0"/>
          </a:p>
        </p:txBody>
      </p:sp>
      <p:sp>
        <p:nvSpPr>
          <p:cNvPr id="14" name="Text 6"/>
          <p:cNvSpPr/>
          <p:nvPr>
            <p:ph idx="112" type="body" hasCustomPrompt="1"/>
          </p:nvPr>
        </p:nvSpPr>
        <p:spPr>
          <a:xfrm>
            <a:off x="8427720" y="3977640"/>
            <a:ext cx="2865120" cy="1874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Short description</a:t>
            </a:r>
            <a:endParaRPr lang="en-US" sz="1400" dirty="0"/>
          </a:p>
        </p:txBody>
      </p:sp>
      <p:pic>
        <p:nvPicPr>
          <p:cNvPr id="15" name="Image 0" descr="Assembled Media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987552" cy="1463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A5E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ard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6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Headline that states the point</a:t>
            </a:r>
            <a:endParaRPr lang="en-US" sz="3600" dirty="0"/>
          </a:p>
        </p:txBody>
      </p:sp>
      <p:sp>
        <p:nvSpPr>
          <p:cNvPr id="3" name="panel"/>
          <p:cNvSpPr/>
          <p:nvPr/>
        </p:nvSpPr>
        <p:spPr>
          <a:xfrm>
            <a:off x="548640" y="2011680"/>
            <a:ext cx="2560320" cy="4069080"/>
          </a:xfrm>
          <a:prstGeom prst="roundRect">
            <a:avLst>
              <a:gd name="adj" fmla="val 6429"/>
            </a:avLst>
          </a:prstGeom>
          <a:solidFill>
            <a:srgbClr val="EFE9D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panel"/>
          <p:cNvSpPr/>
          <p:nvPr/>
        </p:nvSpPr>
        <p:spPr>
          <a:xfrm>
            <a:off x="868680" y="2331720"/>
            <a:ext cx="502920" cy="502920"/>
          </a:xfrm>
          <a:prstGeom prst="ellipse">
            <a:avLst/>
          </a:prstGeom>
          <a:solidFill>
            <a:srgbClr val="49C7EB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868680" y="3108960"/>
            <a:ext cx="1920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Heading</a:t>
            </a:r>
            <a:endParaRPr lang="en-US" sz="17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868680" y="3977640"/>
            <a:ext cx="1920240" cy="1874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5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5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Short description</a:t>
            </a:r>
            <a:endParaRPr lang="en-US" sz="1250" dirty="0"/>
          </a:p>
        </p:txBody>
      </p:sp>
      <p:sp>
        <p:nvSpPr>
          <p:cNvPr id="7" name="panel"/>
          <p:cNvSpPr/>
          <p:nvPr/>
        </p:nvSpPr>
        <p:spPr>
          <a:xfrm>
            <a:off x="3383280" y="2011680"/>
            <a:ext cx="2560320" cy="4069080"/>
          </a:xfrm>
          <a:prstGeom prst="roundRect">
            <a:avLst>
              <a:gd name="adj" fmla="val 6429"/>
            </a:avLst>
          </a:prstGeom>
          <a:solidFill>
            <a:srgbClr val="EFE9D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panel"/>
          <p:cNvSpPr/>
          <p:nvPr/>
        </p:nvSpPr>
        <p:spPr>
          <a:xfrm>
            <a:off x="3703320" y="2331720"/>
            <a:ext cx="502920" cy="502920"/>
          </a:xfrm>
          <a:prstGeom prst="ellipse">
            <a:avLst/>
          </a:prstGeom>
          <a:solidFill>
            <a:srgbClr val="246646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4"/>
          <p:cNvSpPr/>
          <p:nvPr>
            <p:ph idx="107" type="body" hasCustomPrompt="1"/>
          </p:nvPr>
        </p:nvSpPr>
        <p:spPr>
          <a:xfrm>
            <a:off x="3703320" y="3108960"/>
            <a:ext cx="1920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Heading</a:t>
            </a:r>
            <a:endParaRPr lang="en-US" sz="1700" dirty="0"/>
          </a:p>
        </p:txBody>
      </p:sp>
      <p:sp>
        <p:nvSpPr>
          <p:cNvPr id="10" name="Text 4"/>
          <p:cNvSpPr/>
          <p:nvPr>
            <p:ph idx="108" type="body" hasCustomPrompt="1"/>
          </p:nvPr>
        </p:nvSpPr>
        <p:spPr>
          <a:xfrm>
            <a:off x="3703320" y="3977640"/>
            <a:ext cx="1920240" cy="1874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5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5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Short description</a:t>
            </a:r>
            <a:endParaRPr lang="en-US" sz="1250" dirty="0"/>
          </a:p>
        </p:txBody>
      </p:sp>
      <p:sp>
        <p:nvSpPr>
          <p:cNvPr id="11" name="panel"/>
          <p:cNvSpPr/>
          <p:nvPr/>
        </p:nvSpPr>
        <p:spPr>
          <a:xfrm>
            <a:off x="6217920" y="2011680"/>
            <a:ext cx="2560320" cy="4069080"/>
          </a:xfrm>
          <a:prstGeom prst="roundRect">
            <a:avLst>
              <a:gd name="adj" fmla="val 6429"/>
            </a:avLst>
          </a:prstGeom>
          <a:solidFill>
            <a:srgbClr val="EFE9D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panel"/>
          <p:cNvSpPr/>
          <p:nvPr/>
        </p:nvSpPr>
        <p:spPr>
          <a:xfrm>
            <a:off x="6537960" y="2331720"/>
            <a:ext cx="502920" cy="502920"/>
          </a:xfrm>
          <a:prstGeom prst="ellipse">
            <a:avLst/>
          </a:prstGeom>
          <a:solidFill>
            <a:srgbClr val="0F1D13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6"/>
          <p:cNvSpPr/>
          <p:nvPr>
            <p:ph idx="111" type="body" hasCustomPrompt="1"/>
          </p:nvPr>
        </p:nvSpPr>
        <p:spPr>
          <a:xfrm>
            <a:off x="6537960" y="3108960"/>
            <a:ext cx="1920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Heading</a:t>
            </a:r>
            <a:endParaRPr lang="en-US" sz="1700" dirty="0"/>
          </a:p>
        </p:txBody>
      </p:sp>
      <p:sp>
        <p:nvSpPr>
          <p:cNvPr id="14" name="Text 6"/>
          <p:cNvSpPr/>
          <p:nvPr>
            <p:ph idx="112" type="body" hasCustomPrompt="1"/>
          </p:nvPr>
        </p:nvSpPr>
        <p:spPr>
          <a:xfrm>
            <a:off x="6537960" y="3977640"/>
            <a:ext cx="1920240" cy="1874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5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5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Short description</a:t>
            </a:r>
            <a:endParaRPr lang="en-US" sz="1250" dirty="0"/>
          </a:p>
        </p:txBody>
      </p:sp>
      <p:sp>
        <p:nvSpPr>
          <p:cNvPr id="15" name="panel"/>
          <p:cNvSpPr/>
          <p:nvPr/>
        </p:nvSpPr>
        <p:spPr>
          <a:xfrm>
            <a:off x="9052560" y="2011680"/>
            <a:ext cx="2560320" cy="4069080"/>
          </a:xfrm>
          <a:prstGeom prst="roundRect">
            <a:avLst>
              <a:gd name="adj" fmla="val 6429"/>
            </a:avLst>
          </a:prstGeom>
          <a:solidFill>
            <a:srgbClr val="EFE9D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panel"/>
          <p:cNvSpPr/>
          <p:nvPr/>
        </p:nvSpPr>
        <p:spPr>
          <a:xfrm>
            <a:off x="9372600" y="2331720"/>
            <a:ext cx="502920" cy="502920"/>
          </a:xfrm>
          <a:prstGeom prst="ellipse">
            <a:avLst/>
          </a:prstGeom>
          <a:solidFill>
            <a:srgbClr val="B5D337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8"/>
          <p:cNvSpPr/>
          <p:nvPr>
            <p:ph idx="115" type="body" hasCustomPrompt="1"/>
          </p:nvPr>
        </p:nvSpPr>
        <p:spPr>
          <a:xfrm>
            <a:off x="9372600" y="3108960"/>
            <a:ext cx="1920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Heading</a:t>
            </a:r>
            <a:endParaRPr lang="en-US" sz="1700" dirty="0"/>
          </a:p>
        </p:txBody>
      </p:sp>
      <p:sp>
        <p:nvSpPr>
          <p:cNvPr id="18" name="Text 8"/>
          <p:cNvSpPr/>
          <p:nvPr>
            <p:ph idx="116" type="body" hasCustomPrompt="1"/>
          </p:nvPr>
        </p:nvSpPr>
        <p:spPr>
          <a:xfrm>
            <a:off x="9372600" y="3977640"/>
            <a:ext cx="1920240" cy="1874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5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5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Short description</a:t>
            </a:r>
            <a:endParaRPr lang="en-US" sz="1250" dirty="0"/>
          </a:p>
        </p:txBody>
      </p:sp>
      <p:pic>
        <p:nvPicPr>
          <p:cNvPr id="19" name="Image 0" descr="Assembled Media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987552" cy="1463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A5E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EB9B0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8"/>
    <p:sldLayoutId id="2147483666" r:id="rId19"/>
    <p:sldLayoutId id="2147483667" r:id="rId20"/>
    <p:sldLayoutId id="2147483668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7" Type="http://schemas.openxmlformats.org/officeDocument/2006/relationships/image" Target="../media/image1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6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How to use </a:t>
            </a:r>
            <a:r>
              <a:rPr lang="en-US" sz="3600" i="1" dirty="0">
                <a:solidFill>
                  <a:srgbClr val="0F1D1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this template.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828800"/>
            <a:ext cx="110642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Start most slides from Title Only (white, sand or black): a header, the logo and the page number. Build the rest with elements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Elements live on the last slide, the Element Library. Copy, paste, move, resize and recolour them freely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slides after this one are examples of how common content looks in the new style. Duplicate and edit them, or rebuild from Title Only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Fonts: install Plus Jakarta Sans and Instrument Serif, then save once with File › Options › Save › Embed fonts › Embed all characters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serif italic phrase per headline, set in Instrument Serif Italic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Colour jobs: sky = insight, forest = action, lime = outcome. Sand for cards and context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Logos and screenshots in photo spaces: Picture Format › Crop › Fit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A5E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2788920" y="457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EB9B0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x</a:t>
            </a:r>
            <a:endParaRPr lang="en-US" sz="2000" dirty="0"/>
          </a:p>
        </p:txBody>
      </p:sp>
      <p:sp>
        <p:nvSpPr>
          <p:cNvPr id="5" name="Text 0"/>
          <p:cNvSpPr>
            <a:spLocks noGrp="1"/>
          </p:cNvSpPr>
          <p:nvPr>
            <p:ph type="title" idx="103" hasCustomPrompt="1"/>
          </p:nvPr>
        </p:nvSpPr>
        <p:spPr>
          <a:xfrm>
            <a:off x="548640" y="2377440"/>
            <a:ext cx="5760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FY27 media </a:t>
            </a:r>
            <a:r>
              <a:rPr lang="en-US" sz="52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recommendation.</a:t>
            </a:r>
            <a:endParaRPr lang="en-US" sz="52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548640" y="52578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C9D3C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Prepared for [Client] · October 2026</a:t>
            </a:r>
            <a:endParaRPr lang="en-US" sz="1600" dirty="0"/>
          </a:p>
        </p:txBody>
      </p:sp>
      <p:pic>
        <p:nvPicPr>
          <p:cNvPr id="7" name="Image 0" descr="Photo"/>
          <p:cNvPicPr>
            <a:picLocks noGrp="1" noChangeAspect="1"/>
          </p:cNvPicPr>
          <p:nvPr>
            <p:ph type="pic" idx="105" hasCustomPrompt="1"/>
          </p:nvPr>
        </p:nvPicPr>
        <p:blipFill>
          <a:blip r:embed="rId3"/>
          <a:srcRect l="20986" r="20986"/>
          <a:stretch/>
        </p:blipFill>
        <p:spPr>
          <a:xfrm>
            <a:off x="6629400" y="2377440"/>
            <a:ext cx="1463040" cy="4480560"/>
          </a:xfrm>
          <a:prstGeom prst="round2SameRect">
            <a:avLst>
              <a:gd name="adj1" fmla="val 50000"/>
              <a:gd name="adj2" fmla="val 0"/>
            </a:avLst>
          </a:prstGeom>
        </p:spPr>
      </p:pic>
      <p:pic>
        <p:nvPicPr>
          <p:cNvPr id="8" name="Image 1" descr="Photo"/>
          <p:cNvPicPr>
            <a:picLocks noGrp="1" noChangeAspect="1"/>
          </p:cNvPicPr>
          <p:nvPr>
            <p:ph type="pic" idx="106" hasCustomPrompt="1"/>
          </p:nvPr>
        </p:nvPicPr>
        <p:blipFill>
          <a:blip r:embed="rId4"/>
          <a:srcRect l="29166" r="29166"/>
          <a:stretch/>
        </p:blipFill>
        <p:spPr>
          <a:xfrm>
            <a:off x="8275320" y="1097280"/>
            <a:ext cx="1600200" cy="5760720"/>
          </a:xfrm>
          <a:prstGeom prst="round2SameRect">
            <a:avLst>
              <a:gd name="adj1" fmla="val 50000"/>
              <a:gd name="adj2" fmla="val 0"/>
            </a:avLst>
          </a:prstGeom>
        </p:spPr>
      </p:pic>
      <p:pic>
        <p:nvPicPr>
          <p:cNvPr id="9" name="Image 2" descr="Photo"/>
          <p:cNvPicPr>
            <a:picLocks noGrp="1" noChangeAspect="1"/>
          </p:cNvPicPr>
          <p:nvPr>
            <p:ph type="pic" idx="107" hasCustomPrompt="1"/>
          </p:nvPr>
        </p:nvPicPr>
        <p:blipFill>
          <a:blip r:embed="rId5"/>
          <a:srcRect l="28181" r="28181"/>
          <a:stretch/>
        </p:blipFill>
        <p:spPr>
          <a:xfrm>
            <a:off x="10058400" y="1828800"/>
            <a:ext cx="1463040" cy="5029200"/>
          </a:xfrm>
          <a:prstGeom prst="round2SameRect">
            <a:avLst>
              <a:gd name="adj1" fmla="val 50000"/>
              <a:gd name="adj2" fmla="val 0"/>
            </a:avLst>
          </a:prstGeom>
        </p:spPr>
      </p:pic>
      <p:sp>
        <p:nvSpPr>
          <p:cNvPr id="10" name="Focus ring"/>
          <p:cNvSpPr/>
          <p:nvPr/>
        </p:nvSpPr>
        <p:spPr>
          <a:xfrm>
            <a:off x="7018020" y="4251960"/>
            <a:ext cx="777240" cy="777240"/>
          </a:xfrm>
          <a:prstGeom prst="ellipse">
            <a:avLst/>
          </a:prstGeom>
          <a:ln w="57150">
            <a:solidFill>
              <a:srgbClr val="B5D33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0"/>
          <p:cNvSpPr>
            <a:spLocks noGrp="1"/>
          </p:cNvSpPr>
          <p:nvPr>
            <p:ph type="body" idx="102" hasCustomPrompt="1"/>
          </p:nvPr>
        </p:nvSpPr>
        <p:spPr>
          <a:xfrm>
            <a:off x="3383280" y="3200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2788920" y="457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6A5E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x</a:t>
            </a:r>
            <a:endParaRPr lang="en-US" sz="2000" dirty="0"/>
          </a:p>
        </p:txBody>
      </p:sp>
      <p:sp>
        <p:nvSpPr>
          <p:cNvPr id="5" name="Text 0"/>
          <p:cNvSpPr>
            <a:spLocks noGrp="1"/>
          </p:cNvSpPr>
          <p:nvPr>
            <p:ph type="title" idx="103" hasCustomPrompt="1"/>
          </p:nvPr>
        </p:nvSpPr>
        <p:spPr>
          <a:xfrm>
            <a:off x="548640" y="2377440"/>
            <a:ext cx="5760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52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Quarterly </a:t>
            </a:r>
            <a:r>
              <a:rPr lang="en-US" sz="5200" i="1" dirty="0">
                <a:solidFill>
                  <a:srgbClr val="0F1D1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review.</a:t>
            </a:r>
            <a:endParaRPr lang="en-US" sz="52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548640" y="52578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[Client] · Search, social and programmatic</a:t>
            </a:r>
            <a:endParaRPr lang="en-US" sz="1600" dirty="0"/>
          </a:p>
        </p:txBody>
      </p:sp>
      <p:pic>
        <p:nvPicPr>
          <p:cNvPr id="7" name="Image 0" descr="Photo"/>
          <p:cNvPicPr>
            <a:picLocks noGrp="1" noChangeAspect="1"/>
          </p:cNvPicPr>
          <p:nvPr>
            <p:ph type="pic" idx="105" hasCustomPrompt="1"/>
          </p:nvPr>
        </p:nvPicPr>
        <p:blipFill>
          <a:blip r:embed="rId3"/>
          <a:srcRect l="25506" r="25506"/>
          <a:stretch/>
        </p:blipFill>
        <p:spPr>
          <a:xfrm>
            <a:off x="6629400" y="2377440"/>
            <a:ext cx="1463040" cy="4480560"/>
          </a:xfrm>
          <a:prstGeom prst="round2SameRect">
            <a:avLst>
              <a:gd name="adj1" fmla="val 50000"/>
              <a:gd name="adj2" fmla="val 0"/>
            </a:avLst>
          </a:prstGeom>
        </p:spPr>
      </p:pic>
      <p:pic>
        <p:nvPicPr>
          <p:cNvPr id="8" name="Image 1" descr="Photo"/>
          <p:cNvPicPr>
            <a:picLocks noGrp="1" noChangeAspect="1"/>
          </p:cNvPicPr>
          <p:nvPr>
            <p:ph type="pic" idx="106" hasCustomPrompt="1"/>
          </p:nvPr>
        </p:nvPicPr>
        <p:blipFill>
          <a:blip r:embed="rId4"/>
          <a:srcRect l="29160" r="29160"/>
          <a:stretch/>
        </p:blipFill>
        <p:spPr>
          <a:xfrm>
            <a:off x="8275320" y="1097280"/>
            <a:ext cx="1600200" cy="5760720"/>
          </a:xfrm>
          <a:prstGeom prst="round2SameRect">
            <a:avLst>
              <a:gd name="adj1" fmla="val 50000"/>
              <a:gd name="adj2" fmla="val 0"/>
            </a:avLst>
          </a:prstGeom>
        </p:spPr>
      </p:pic>
      <p:pic>
        <p:nvPicPr>
          <p:cNvPr id="9" name="Image 2" descr="Photo"/>
          <p:cNvPicPr>
            <a:picLocks noGrp="1" noChangeAspect="1"/>
          </p:cNvPicPr>
          <p:nvPr>
            <p:ph type="pic" idx="107" hasCustomPrompt="1"/>
          </p:nvPr>
        </p:nvPicPr>
        <p:blipFill>
          <a:blip r:embed="rId5"/>
          <a:srcRect l="31818" r="31818"/>
          <a:stretch/>
        </p:blipFill>
        <p:spPr>
          <a:xfrm>
            <a:off x="10058400" y="1828800"/>
            <a:ext cx="1463040" cy="5029200"/>
          </a:xfrm>
          <a:prstGeom prst="round2SameRect">
            <a:avLst>
              <a:gd name="adj1" fmla="val 50000"/>
              <a:gd name="adj2" fmla="val 0"/>
            </a:avLst>
          </a:prstGeom>
        </p:spPr>
      </p:pic>
      <p:sp>
        <p:nvSpPr>
          <p:cNvPr id="10" name="Focus ring"/>
          <p:cNvSpPr/>
          <p:nvPr/>
        </p:nvSpPr>
        <p:spPr>
          <a:xfrm>
            <a:off x="7498080" y="4869180"/>
            <a:ext cx="777240" cy="777240"/>
          </a:xfrm>
          <a:prstGeom prst="ellipse">
            <a:avLst/>
          </a:prstGeom>
          <a:ln w="57150">
            <a:solidFill>
              <a:srgbClr val="B5D33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0"/>
          <p:cNvSpPr>
            <a:spLocks noGrp="1"/>
          </p:cNvSpPr>
          <p:nvPr>
            <p:ph type="body" idx="102" hasCustomPrompt="1"/>
          </p:nvPr>
        </p:nvSpPr>
        <p:spPr>
          <a:xfrm>
            <a:off x="3383280" y="3200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"/>
          <p:cNvPicPr>
            <a:picLocks noGrp="1" noChangeAspect="1"/>
          </p:cNvPicPr>
          <p:nvPr>
            <p:ph type="pic" idx="100" hasCustomPrompt="1"/>
          </p:nvPr>
        </p:nvPicPr>
        <p:blipFill>
          <a:blip r:embed="rId3"/>
          <a:srcRect l="12500" r="12500"/>
          <a:stretch/>
        </p:blipFill>
        <p:spPr>
          <a:xfrm>
            <a:off x="548640" y="640080"/>
            <a:ext cx="3108960" cy="6217920"/>
          </a:xfrm>
          <a:prstGeom prst="round2SameRect">
            <a:avLst>
              <a:gd name="adj1" fmla="val 50000"/>
              <a:gd name="adj2" fmla="val 0"/>
            </a:avLst>
          </a:prstGeom>
        </p:spPr>
      </p:pic>
      <p:sp>
        <p:nvSpPr>
          <p:cNvPr id="3" name="Focus ring"/>
          <p:cNvSpPr/>
          <p:nvPr/>
        </p:nvSpPr>
        <p:spPr>
          <a:xfrm>
            <a:off x="762000" y="3840480"/>
            <a:ext cx="914400" cy="914400"/>
          </a:xfrm>
          <a:prstGeom prst="ellipse">
            <a:avLst/>
          </a:prstGeom>
          <a:ln w="57150">
            <a:solidFill>
              <a:srgbClr val="B5D33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4206240" y="6400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0" dirty="0">
                <a:solidFill>
                  <a:srgbClr val="B5D337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0"/>
          <p:cNvSpPr>
            <a:spLocks noGrp="1"/>
          </p:cNvSpPr>
          <p:nvPr>
            <p:ph type="title" idx="102" hasCustomPrompt="1"/>
          </p:nvPr>
        </p:nvSpPr>
        <p:spPr>
          <a:xfrm>
            <a:off x="4206240" y="219456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560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Decoding </a:t>
            </a:r>
            <a:r>
              <a:rPr lang="en-US" sz="5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task.</a:t>
            </a:r>
            <a:endParaRPr lang="en-US" sz="5600" dirty="0"/>
          </a:p>
        </p:txBody>
      </p:sp>
      <p:sp>
        <p:nvSpPr>
          <p:cNvPr id="6" name="Arch"/>
          <p:cNvSpPr/>
          <p:nvPr/>
        </p:nvSpPr>
        <p:spPr>
          <a:xfrm>
            <a:off x="9235440" y="5248656"/>
            <a:ext cx="658368" cy="160934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9C7E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Arch"/>
          <p:cNvSpPr/>
          <p:nvPr/>
        </p:nvSpPr>
        <p:spPr>
          <a:xfrm>
            <a:off x="10003536" y="4590288"/>
            <a:ext cx="658368" cy="2267712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E8F6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Arch"/>
          <p:cNvSpPr/>
          <p:nvPr/>
        </p:nvSpPr>
        <p:spPr>
          <a:xfrm>
            <a:off x="10771632" y="3785616"/>
            <a:ext cx="658368" cy="307238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5D33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EB9B0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"/>
          <p:cNvPicPr>
            <a:picLocks noGrp="1" noChangeAspect="1"/>
          </p:cNvPicPr>
          <p:nvPr>
            <p:ph type="pic" idx="100" hasCustomPrompt="1"/>
          </p:nvPr>
        </p:nvPicPr>
        <p:blipFill>
          <a:blip r:embed="rId3"/>
          <a:srcRect l="12500" r="12500"/>
          <a:stretch/>
        </p:blipFill>
        <p:spPr>
          <a:xfrm>
            <a:off x="548640" y="640080"/>
            <a:ext cx="3108960" cy="6217920"/>
          </a:xfrm>
          <a:prstGeom prst="round2SameRect">
            <a:avLst>
              <a:gd name="adj1" fmla="val 50000"/>
              <a:gd name="adj2" fmla="val 0"/>
            </a:avLst>
          </a:prstGeom>
        </p:spPr>
      </p:pic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206240" y="6400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0" dirty="0">
                <a:solidFill>
                  <a:srgbClr val="246646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4206240" y="219456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56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Developing the </a:t>
            </a:r>
            <a:r>
              <a:rPr lang="en-US" sz="5600" i="1" dirty="0">
                <a:solidFill>
                  <a:srgbClr val="0F1D1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strategy.</a:t>
            </a:r>
            <a:endParaRPr lang="en-US" sz="5600" dirty="0"/>
          </a:p>
        </p:txBody>
      </p:sp>
      <p:sp>
        <p:nvSpPr>
          <p:cNvPr id="5" name="Arch"/>
          <p:cNvSpPr/>
          <p:nvPr/>
        </p:nvSpPr>
        <p:spPr>
          <a:xfrm>
            <a:off x="9235440" y="5248656"/>
            <a:ext cx="658368" cy="160934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9C7E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Arch"/>
          <p:cNvSpPr/>
          <p:nvPr/>
        </p:nvSpPr>
        <p:spPr>
          <a:xfrm>
            <a:off x="10003536" y="4590288"/>
            <a:ext cx="658368" cy="2267712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664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Arch"/>
          <p:cNvSpPr/>
          <p:nvPr/>
        </p:nvSpPr>
        <p:spPr>
          <a:xfrm>
            <a:off x="10771632" y="3785616"/>
            <a:ext cx="658368" cy="307238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5D33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A5E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h"/>
          <p:cNvSpPr/>
          <p:nvPr/>
        </p:nvSpPr>
        <p:spPr>
          <a:xfrm>
            <a:off x="9692640" y="5751576"/>
            <a:ext cx="452628" cy="110642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9C7E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Arch"/>
          <p:cNvSpPr/>
          <p:nvPr/>
        </p:nvSpPr>
        <p:spPr>
          <a:xfrm>
            <a:off x="10220706" y="5298948"/>
            <a:ext cx="452628" cy="1559052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E8F6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Arch"/>
          <p:cNvSpPr/>
          <p:nvPr/>
        </p:nvSpPr>
        <p:spPr>
          <a:xfrm>
            <a:off x="10748772" y="4745736"/>
            <a:ext cx="452628" cy="211226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5D33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0"/>
          <p:cNvSpPr>
            <a:spLocks noGrp="1"/>
          </p:cNvSpPr>
          <p:nvPr>
            <p:ph type="body" idx="100" hasCustomPrompt="1"/>
          </p:nvPr>
        </p:nvSpPr>
        <p:spPr>
          <a:xfrm>
            <a:off x="1280160" y="1463040"/>
            <a:ext cx="9601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All while tackling the perception problem: </a:t>
            </a:r>
            <a:r>
              <a:rPr lang="en-US" sz="3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it is only for affluent buyers.</a:t>
            </a:r>
            <a:endParaRPr lang="en-US" sz="3600" dirty="0"/>
          </a:p>
        </p:txBody>
      </p:sp>
      <p:sp>
        <p:nvSpPr>
          <p:cNvPr id="6" name="Text 0"/>
          <p:cNvSpPr>
            <a:spLocks noGrp="1"/>
          </p:cNvSpPr>
          <p:nvPr>
            <p:ph type="body" idx="101" hasCustomPrompt="1"/>
          </p:nvPr>
        </p:nvSpPr>
        <p:spPr>
          <a:xfrm>
            <a:off x="1280160" y="5029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3C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[Source]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EB9B0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1280160" y="1463040"/>
            <a:ext cx="9601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36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We stress-tested this, and the data says </a:t>
            </a:r>
            <a:r>
              <a:rPr lang="en-US" sz="3600" i="1" dirty="0">
                <a:solidFill>
                  <a:srgbClr val="0F1D1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story is changing.</a:t>
            </a: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1280160" y="5029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[Source or supporting line]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A5E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6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The brief, </a:t>
            </a:r>
            <a:r>
              <a:rPr lang="en-US" sz="3600" i="1" dirty="0">
                <a:solidFill>
                  <a:srgbClr val="0F1D1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at a glance.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548640" y="1828800"/>
            <a:ext cx="544068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Circle"/>
          <p:cNvSpPr/>
          <p:nvPr/>
        </p:nvSpPr>
        <p:spPr>
          <a:xfrm>
            <a:off x="868680" y="2176272"/>
            <a:ext cx="256032" cy="256032"/>
          </a:xfrm>
          <a:prstGeom prst="ellipse">
            <a:avLst/>
          </a:prstGeom>
          <a:solidFill>
            <a:srgbClr val="B5D33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28016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4664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Drive awareness and attendance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46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[Target metric and date]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6172200" y="1828800"/>
            <a:ext cx="544068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Circle"/>
          <p:cNvSpPr/>
          <p:nvPr/>
        </p:nvSpPr>
        <p:spPr>
          <a:xfrm>
            <a:off x="6492240" y="2176272"/>
            <a:ext cx="256032" cy="256032"/>
          </a:xfrm>
          <a:prstGeom prst="ellipse">
            <a:avLst/>
          </a:prstGeom>
          <a:solidFill>
            <a:srgbClr val="49C7E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 txBox="1"/>
          <p:nvPr/>
        </p:nvSpPr>
        <p:spPr>
          <a:xfrm>
            <a:off x="690372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4664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Audiences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6060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Avid fans and event seekers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246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[Sizes or priorities]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548640" y="4023360"/>
            <a:ext cx="544068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Circle"/>
          <p:cNvSpPr/>
          <p:nvPr/>
        </p:nvSpPr>
        <p:spPr>
          <a:xfrm>
            <a:off x="868680" y="4370832"/>
            <a:ext cx="256032" cy="256032"/>
          </a:xfrm>
          <a:prstGeom prst="ellipse">
            <a:avLst/>
          </a:prstGeom>
          <a:solidFill>
            <a:srgbClr val="24664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 txBox="1"/>
          <p:nvPr/>
        </p:nvSpPr>
        <p:spPr>
          <a:xfrm>
            <a:off x="128016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4664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Timing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8006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1 Sep to 7 Dec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440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[Key moments]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6172200" y="4023360"/>
            <a:ext cx="544068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Circle"/>
          <p:cNvSpPr/>
          <p:nvPr/>
        </p:nvSpPr>
        <p:spPr>
          <a:xfrm>
            <a:off x="6492240" y="4370832"/>
            <a:ext cx="256032" cy="256032"/>
          </a:xfrm>
          <a:prstGeom prst="ellipse">
            <a:avLst/>
          </a:prstGeom>
          <a:solidFill>
            <a:srgbClr val="0F1D1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 txBox="1"/>
          <p:nvPr/>
        </p:nvSpPr>
        <p:spPr>
          <a:xfrm>
            <a:off x="690372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4664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Budget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48006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[$] including fees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5440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[Split or notes]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A5E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6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YouTube </a:t>
            </a:r>
            <a:r>
              <a:rPr lang="en-US" sz="3600" i="1" dirty="0">
                <a:solidFill>
                  <a:srgbClr val="0F1D1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implementation.</a:t>
            </a:r>
            <a:endParaRPr lang="en-US" sz="3600" dirty="0"/>
          </a:p>
        </p:txBody>
      </p:sp>
      <p:sp>
        <p:nvSpPr>
          <p:cNvPr id="3" name="Tag YouTube"/>
          <p:cNvSpPr/>
          <p:nvPr/>
        </p:nvSpPr>
        <p:spPr>
          <a:xfrm>
            <a:off x="548640" y="1600200"/>
            <a:ext cx="864108" cy="310896"/>
          </a:xfrm>
          <a:prstGeom prst="roundRect">
            <a:avLst>
              <a:gd name="adj" fmla="val 50000"/>
            </a:avLst>
          </a:prstGeom>
          <a:solidFill>
            <a:srgbClr val="0F1D1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YouTube</a:t>
            </a:r>
            <a:endParaRPr lang="en-US" sz="1100" dirty="0"/>
          </a:p>
        </p:txBody>
      </p:sp>
      <p:sp>
        <p:nvSpPr>
          <p:cNvPr id="4" name="Tag Awareness"/>
          <p:cNvSpPr/>
          <p:nvPr/>
        </p:nvSpPr>
        <p:spPr>
          <a:xfrm>
            <a:off x="1600200" y="1600200"/>
            <a:ext cx="1019556" cy="310896"/>
          </a:xfrm>
          <a:prstGeom prst="roundRect">
            <a:avLst>
              <a:gd name="adj" fmla="val 50000"/>
            </a:avLst>
          </a:prstGeom>
          <a:solidFill>
            <a:srgbClr val="49C7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Awareness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Drive awareness with event seekers through a contextually aligned YouTube buy, placing skippable pre-rolls before event-aligned content.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548640" y="3017520"/>
            <a:ext cx="5669280" cy="3063240"/>
          </a:xfrm>
          <a:prstGeom prst="roundRect">
            <a:avLst>
              <a:gd name="adj" fmla="val 5373"/>
            </a:avLst>
          </a:prstGeom>
          <a:solidFill>
            <a:srgbClr val="EFE9D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868680" y="3273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4664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Content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32552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15s landscape, 6s vertical</a:t>
            </a:r>
            <a:endParaRPr lang="en-US" sz="1300" dirty="0"/>
          </a:p>
        </p:txBody>
      </p:sp>
      <p:sp>
        <p:nvSpPr>
          <p:cNvPr id="9" name="Line"/>
          <p:cNvSpPr/>
          <p:nvPr/>
        </p:nvSpPr>
        <p:spPr>
          <a:xfrm>
            <a:off x="868680" y="3639312"/>
            <a:ext cx="5029200" cy="0"/>
          </a:xfrm>
          <a:prstGeom prst="line">
            <a:avLst/>
          </a:prstGeom>
          <a:noFill/>
          <a:ln w="12700">
            <a:solidFill>
              <a:srgbClr val="E4DE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 txBox="1"/>
          <p:nvPr/>
        </p:nvSpPr>
        <p:spPr>
          <a:xfrm>
            <a:off x="868680" y="3730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4664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Timing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37124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October to November</a:t>
            </a:r>
            <a:endParaRPr lang="en-US" sz="1300" dirty="0"/>
          </a:p>
        </p:txBody>
      </p:sp>
      <p:sp>
        <p:nvSpPr>
          <p:cNvPr id="12" name="Line"/>
          <p:cNvSpPr/>
          <p:nvPr/>
        </p:nvSpPr>
        <p:spPr>
          <a:xfrm>
            <a:off x="868680" y="4096512"/>
            <a:ext cx="5029200" cy="0"/>
          </a:xfrm>
          <a:prstGeom prst="line">
            <a:avLst/>
          </a:prstGeom>
          <a:noFill/>
          <a:ln w="12700">
            <a:solidFill>
              <a:srgbClr val="E4DE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 txBox="1"/>
          <p:nvPr/>
        </p:nvSpPr>
        <p:spPr>
          <a:xfrm>
            <a:off x="868680" y="4187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4664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Targeting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41696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Event seekers</a:t>
            </a:r>
            <a:endParaRPr lang="en-US" sz="1300" dirty="0"/>
          </a:p>
        </p:txBody>
      </p:sp>
      <p:sp>
        <p:nvSpPr>
          <p:cNvPr id="15" name="Line"/>
          <p:cNvSpPr/>
          <p:nvPr/>
        </p:nvSpPr>
        <p:spPr>
          <a:xfrm>
            <a:off x="868680" y="4553712"/>
            <a:ext cx="5029200" cy="0"/>
          </a:xfrm>
          <a:prstGeom prst="line">
            <a:avLst/>
          </a:prstGeom>
          <a:noFill/>
          <a:ln w="12700">
            <a:solidFill>
              <a:srgbClr val="E4DE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 txBox="1"/>
          <p:nvPr/>
        </p:nvSpPr>
        <p:spPr>
          <a:xfrm>
            <a:off x="868680" y="46451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4664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Format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46268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Skippable pre-roll, Shorts</a:t>
            </a:r>
            <a:endParaRPr lang="en-US" sz="1300" dirty="0"/>
          </a:p>
        </p:txBody>
      </p:sp>
      <p:sp>
        <p:nvSpPr>
          <p:cNvPr id="18" name="Line"/>
          <p:cNvSpPr/>
          <p:nvPr/>
        </p:nvSpPr>
        <p:spPr>
          <a:xfrm>
            <a:off x="868680" y="5010912"/>
            <a:ext cx="5029200" cy="0"/>
          </a:xfrm>
          <a:prstGeom prst="line">
            <a:avLst/>
          </a:prstGeom>
          <a:noFill/>
          <a:ln w="12700">
            <a:solidFill>
              <a:srgbClr val="E4DE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 txBox="1"/>
          <p:nvPr/>
        </p:nvSpPr>
        <p:spPr>
          <a:xfrm>
            <a:off x="868680" y="5102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4664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Budget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377440" y="50840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[$]</a:t>
            </a:r>
            <a:endParaRPr lang="en-US" sz="1300" dirty="0"/>
          </a:p>
        </p:txBody>
      </p:sp>
      <p:sp>
        <p:nvSpPr>
          <p:cNvPr id="21" name="Line"/>
          <p:cNvSpPr/>
          <p:nvPr/>
        </p:nvSpPr>
        <p:spPr>
          <a:xfrm>
            <a:off x="868680" y="5468112"/>
            <a:ext cx="5029200" cy="0"/>
          </a:xfrm>
          <a:prstGeom prst="line">
            <a:avLst/>
          </a:prstGeom>
          <a:noFill/>
          <a:ln w="12700">
            <a:solidFill>
              <a:srgbClr val="E4DE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 txBox="1"/>
          <p:nvPr/>
        </p:nvSpPr>
        <p:spPr>
          <a:xfrm>
            <a:off x="868680" y="5559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4664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Delivery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377440" y="55412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[Views]</a:t>
            </a:r>
            <a:endParaRPr lang="en-US" sz="1300" dirty="0"/>
          </a:p>
        </p:txBody>
      </p:sp>
      <p:pic>
        <p:nvPicPr>
          <p:cNvPr id="24" name="Image 0" descr="Campaign mocku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969" y="2139696"/>
            <a:ext cx="4846320" cy="2807208"/>
          </a:xfrm>
          <a:prstGeom prst="rect">
            <a:avLst/>
          </a:prstGeom>
        </p:spPr>
      </p:pic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A5E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The value </a:t>
            </a:r>
            <a:r>
              <a:rPr lang="en-US" sz="3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we secure.</a:t>
            </a:r>
            <a:endParaRPr lang="en-US" sz="3600" dirty="0"/>
          </a:p>
        </p:txBody>
      </p:sp>
      <p:sp>
        <p:nvSpPr>
          <p:cNvPr id="3" name="Line"/>
          <p:cNvSpPr/>
          <p:nvPr/>
        </p:nvSpPr>
        <p:spPr>
          <a:xfrm>
            <a:off x="548640" y="2103120"/>
            <a:ext cx="3474720" cy="0"/>
          </a:xfrm>
          <a:prstGeom prst="line">
            <a:avLst/>
          </a:prstGeom>
          <a:noFill/>
          <a:ln w="19050">
            <a:solidFill>
              <a:srgbClr val="4E8F6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dirty="0">
                <a:solidFill>
                  <a:srgbClr val="B5D337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+70%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49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Delivery in impressions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3C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Cuisine Pro</a:t>
            </a:r>
            <a:endParaRPr lang="en-US" sz="1300" dirty="0"/>
          </a:p>
        </p:txBody>
      </p:sp>
      <p:sp>
        <p:nvSpPr>
          <p:cNvPr id="7" name="Line"/>
          <p:cNvSpPr/>
          <p:nvPr/>
        </p:nvSpPr>
        <p:spPr>
          <a:xfrm>
            <a:off x="4343400" y="2103120"/>
            <a:ext cx="3474720" cy="0"/>
          </a:xfrm>
          <a:prstGeom prst="line">
            <a:avLst/>
          </a:prstGeom>
          <a:noFill/>
          <a:ln w="19050">
            <a:solidFill>
              <a:srgbClr val="4E8F6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 txBox="1"/>
          <p:nvPr/>
        </p:nvSpPr>
        <p:spPr>
          <a:xfrm>
            <a:off x="4343400" y="23774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dirty="0">
                <a:solidFill>
                  <a:srgbClr val="B5D337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+50%</a:t>
            </a:r>
            <a:endParaRPr lang="en-US" sz="66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3749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Delivery in inventory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3C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Strength Meals</a:t>
            </a:r>
            <a:endParaRPr lang="en-US" sz="1300" dirty="0"/>
          </a:p>
        </p:txBody>
      </p:sp>
      <p:sp>
        <p:nvSpPr>
          <p:cNvPr id="11" name="Line"/>
          <p:cNvSpPr/>
          <p:nvPr/>
        </p:nvSpPr>
        <p:spPr>
          <a:xfrm>
            <a:off x="8138160" y="2103120"/>
            <a:ext cx="3474720" cy="0"/>
          </a:xfrm>
          <a:prstGeom prst="line">
            <a:avLst/>
          </a:prstGeom>
          <a:noFill/>
          <a:ln w="19050">
            <a:solidFill>
              <a:srgbClr val="4E8F6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 txBox="1"/>
          <p:nvPr/>
        </p:nvSpPr>
        <p:spPr>
          <a:xfrm>
            <a:off x="8138160" y="23774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dirty="0">
                <a:solidFill>
                  <a:srgbClr val="B5D337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$8m</a:t>
            </a:r>
            <a:endParaRPr lang="en-US" sz="66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3749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Value delivered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3C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Bowel Cancer Australia</a:t>
            </a:r>
            <a:endParaRPr lang="en-US" sz="1300" dirty="0"/>
          </a:p>
        </p:txBody>
      </p:sp>
      <p:sp>
        <p:nvSpPr>
          <p:cNvPr id="15" name="Tag Outcome"/>
          <p:cNvSpPr/>
          <p:nvPr/>
        </p:nvSpPr>
        <p:spPr>
          <a:xfrm>
            <a:off x="548640" y="5120640"/>
            <a:ext cx="864108" cy="310896"/>
          </a:xfrm>
          <a:prstGeom prst="roundRect">
            <a:avLst>
              <a:gd name="adj" fmla="val 50000"/>
            </a:avLst>
          </a:prstGeom>
          <a:solidFill>
            <a:srgbClr val="B5D3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Outcome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EB9B0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6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Introducing </a:t>
            </a:r>
            <a:r>
              <a:rPr lang="en-US" sz="3600" i="1" dirty="0">
                <a:solidFill>
                  <a:srgbClr val="0F1D1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your team.</a:t>
            </a:r>
            <a:endParaRPr lang="en-US" sz="3600" dirty="0"/>
          </a:p>
        </p:txBody>
      </p:sp>
      <p:pic>
        <p:nvPicPr>
          <p:cNvPr id="3" name="Image 0" descr="Team photo"/>
          <p:cNvPicPr>
            <a:picLocks noChangeAspect="1"/>
          </p:cNvPicPr>
          <p:nvPr/>
        </p:nvPicPr>
        <p:blipFill>
          <a:blip r:embed="rId3"/>
          <a:srcRect t="9090" b="9090"/>
          <a:stretch>
            <a:fillRect/>
          </a:stretch>
        </p:blipFill>
        <p:spPr>
          <a:xfrm>
            <a:off x="548640" y="1828800"/>
            <a:ext cx="2011680" cy="2468880"/>
          </a:xfrm>
          <a:prstGeom prst="roundRect">
            <a:avLst>
              <a:gd name="adj" fmla="val 50000"/>
            </a:avLst>
          </a:prstGeom>
        </p:spPr>
      </p:pic>
      <p:sp>
        <p:nvSpPr>
          <p:cNvPr id="4" name="Text 1"/>
          <p:cNvSpPr txBox="1"/>
          <p:nvPr/>
        </p:nvSpPr>
        <p:spPr>
          <a:xfrm>
            <a:off x="548640" y="44805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[Name]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800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4664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Managing Director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[Experience and what they look after]</a:t>
            </a:r>
            <a:endParaRPr lang="en-US" sz="1050" dirty="0"/>
          </a:p>
        </p:txBody>
      </p:sp>
      <p:pic>
        <p:nvPicPr>
          <p:cNvPr id="7" name="Image 1" descr="Team photo"/>
          <p:cNvPicPr>
            <a:picLocks noChangeAspect="1"/>
          </p:cNvPicPr>
          <p:nvPr/>
        </p:nvPicPr>
        <p:blipFill>
          <a:blip r:embed="rId4"/>
          <a:srcRect t="5479" b="5479"/>
          <a:stretch>
            <a:fillRect/>
          </a:stretch>
        </p:blipFill>
        <p:spPr>
          <a:xfrm>
            <a:off x="2816352" y="1828800"/>
            <a:ext cx="2011680" cy="2468880"/>
          </a:xfrm>
          <a:prstGeom prst="roundRect">
            <a:avLst>
              <a:gd name="adj" fmla="val 50000"/>
            </a:avLst>
          </a:prstGeom>
        </p:spPr>
      </p:pic>
      <p:sp>
        <p:nvSpPr>
          <p:cNvPr id="8" name="Text 4"/>
          <p:cNvSpPr txBox="1"/>
          <p:nvPr/>
        </p:nvSpPr>
        <p:spPr>
          <a:xfrm>
            <a:off x="2816352" y="44805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[Name]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2816352" y="4800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4664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Strategy Director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2816352" y="5120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[Experience and what they look after]</a:t>
            </a:r>
            <a:endParaRPr lang="en-US" sz="1050" dirty="0"/>
          </a:p>
        </p:txBody>
      </p:sp>
      <p:pic>
        <p:nvPicPr>
          <p:cNvPr id="11" name="Image 2" descr="Team photo"/>
          <p:cNvPicPr>
            <a:picLocks noChangeAspect="1"/>
          </p:cNvPicPr>
          <p:nvPr/>
        </p:nvPicPr>
        <p:blipFill>
          <a:blip r:embed="rId5"/>
          <a:srcRect t="9090" b="9090"/>
          <a:stretch>
            <a:fillRect/>
          </a:stretch>
        </p:blipFill>
        <p:spPr>
          <a:xfrm>
            <a:off x="5084064" y="1828800"/>
            <a:ext cx="2011680" cy="2468880"/>
          </a:xfrm>
          <a:prstGeom prst="roundRect">
            <a:avLst>
              <a:gd name="adj" fmla="val 50000"/>
            </a:avLst>
          </a:prstGeom>
        </p:spPr>
      </p:pic>
      <p:sp>
        <p:nvSpPr>
          <p:cNvPr id="12" name="Text 7"/>
          <p:cNvSpPr txBox="1"/>
          <p:nvPr/>
        </p:nvSpPr>
        <p:spPr>
          <a:xfrm>
            <a:off x="5084064" y="44805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[Name]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5084064" y="4800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4664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Head of Digital</a:t>
            </a:r>
            <a:endParaRPr lang="en-US" sz="1150" dirty="0"/>
          </a:p>
        </p:txBody>
      </p:sp>
      <p:sp>
        <p:nvSpPr>
          <p:cNvPr id="14" name="Text 9"/>
          <p:cNvSpPr txBox="1"/>
          <p:nvPr/>
        </p:nvSpPr>
        <p:spPr>
          <a:xfrm>
            <a:off x="5084064" y="5120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[Experience and what they look after]</a:t>
            </a:r>
            <a:endParaRPr lang="en-US" sz="1050" dirty="0"/>
          </a:p>
        </p:txBody>
      </p:sp>
      <p:pic>
        <p:nvPicPr>
          <p:cNvPr id="15" name="Image 3" descr="Team photo"/>
          <p:cNvPicPr>
            <a:picLocks noChangeAspect="1"/>
          </p:cNvPicPr>
          <p:nvPr/>
        </p:nvPicPr>
        <p:blipFill>
          <a:blip r:embed="rId6"/>
          <a:srcRect t="9090" b="9090"/>
          <a:stretch>
            <a:fillRect/>
          </a:stretch>
        </p:blipFill>
        <p:spPr>
          <a:xfrm>
            <a:off x="7351776" y="1828800"/>
            <a:ext cx="2011680" cy="2468880"/>
          </a:xfrm>
          <a:prstGeom prst="roundRect">
            <a:avLst>
              <a:gd name="adj" fmla="val 50000"/>
            </a:avLst>
          </a:prstGeom>
        </p:spPr>
      </p:pic>
      <p:sp>
        <p:nvSpPr>
          <p:cNvPr id="16" name="Text 10"/>
          <p:cNvSpPr txBox="1"/>
          <p:nvPr/>
        </p:nvSpPr>
        <p:spPr>
          <a:xfrm>
            <a:off x="7351776" y="44805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[Name]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7351776" y="4800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4664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Media Director</a:t>
            </a:r>
            <a:endParaRPr lang="en-US" sz="1150" dirty="0"/>
          </a:p>
        </p:txBody>
      </p:sp>
      <p:sp>
        <p:nvSpPr>
          <p:cNvPr id="18" name="Text 12"/>
          <p:cNvSpPr txBox="1"/>
          <p:nvPr/>
        </p:nvSpPr>
        <p:spPr>
          <a:xfrm>
            <a:off x="7351776" y="5120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[Experience and what they look after]</a:t>
            </a:r>
            <a:endParaRPr lang="en-US" sz="1050" dirty="0"/>
          </a:p>
        </p:txBody>
      </p:sp>
      <p:pic>
        <p:nvPicPr>
          <p:cNvPr id="19" name="Image 4" descr="Team photo"/>
          <p:cNvPicPr>
            <a:picLocks noChangeAspect="1"/>
          </p:cNvPicPr>
          <p:nvPr/>
        </p:nvPicPr>
        <p:blipFill>
          <a:blip r:embed="rId7"/>
          <a:srcRect t="9090" b="9090"/>
          <a:stretch>
            <a:fillRect/>
          </a:stretch>
        </p:blipFill>
        <p:spPr>
          <a:xfrm>
            <a:off x="9619488" y="1828800"/>
            <a:ext cx="2011680" cy="2468880"/>
          </a:xfrm>
          <a:prstGeom prst="roundRect">
            <a:avLst>
              <a:gd name="adj" fmla="val 50000"/>
            </a:avLst>
          </a:prstGeom>
        </p:spPr>
      </p:pic>
      <p:sp>
        <p:nvSpPr>
          <p:cNvPr id="20" name="Text 13"/>
          <p:cNvSpPr txBox="1"/>
          <p:nvPr/>
        </p:nvSpPr>
        <p:spPr>
          <a:xfrm>
            <a:off x="9619488" y="44805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[Name]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9619488" y="4800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4664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Data Lead</a:t>
            </a:r>
            <a:endParaRPr lang="en-US" sz="1150" dirty="0"/>
          </a:p>
        </p:txBody>
      </p:sp>
      <p:sp>
        <p:nvSpPr>
          <p:cNvPr id="22" name="Text 15"/>
          <p:cNvSpPr txBox="1"/>
          <p:nvPr/>
        </p:nvSpPr>
        <p:spPr>
          <a:xfrm>
            <a:off x="9619488" y="5120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[Experience and what they look after]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A5E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6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Peak pet </a:t>
            </a:r>
            <a:r>
              <a:rPr lang="en-US" sz="3600" i="1" dirty="0">
                <a:solidFill>
                  <a:srgbClr val="0F1D1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parents.</a:t>
            </a:r>
            <a:endParaRPr lang="en-US" sz="3600" dirty="0"/>
          </a:p>
        </p:txBody>
      </p:sp>
      <p:pic>
        <p:nvPicPr>
          <p:cNvPr id="3" name="Image 0" descr="Audience photo"/>
          <p:cNvPicPr>
            <a:picLocks noChangeAspect="1"/>
          </p:cNvPicPr>
          <p:nvPr/>
        </p:nvPicPr>
        <p:blipFill>
          <a:blip r:embed="rId3"/>
          <a:srcRect t="520" b="520"/>
          <a:stretch>
            <a:fillRect/>
          </a:stretch>
        </p:blipFill>
        <p:spPr>
          <a:xfrm>
            <a:off x="548640" y="1737360"/>
            <a:ext cx="2926080" cy="4343400"/>
          </a:xfrm>
          <a:prstGeom prst="round2SameRect">
            <a:avLst>
              <a:gd name="adj1" fmla="val 50000"/>
              <a:gd name="adj2" fmla="val 0"/>
            </a:avLst>
          </a:prstGeom>
        </p:spPr>
      </p:pic>
      <p:sp>
        <p:nvSpPr>
          <p:cNvPr id="4" name="Focus ring"/>
          <p:cNvSpPr/>
          <p:nvPr/>
        </p:nvSpPr>
        <p:spPr>
          <a:xfrm>
            <a:off x="2606040" y="4822467"/>
            <a:ext cx="731520" cy="731520"/>
          </a:xfrm>
          <a:prstGeom prst="ellipse">
            <a:avLst/>
          </a:prstGeom>
          <a:ln w="57150">
            <a:solidFill>
              <a:srgbClr val="B5D33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2"/>
          <p:cNvSpPr txBox="1"/>
          <p:nvPr/>
        </p:nvSpPr>
        <p:spPr>
          <a:xfrm>
            <a:off x="3931920" y="17373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Cares more about giving their pet the best than about price. Researches ingredients and trusts proof.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3931920" y="2606040"/>
            <a:ext cx="2423160" cy="1280160"/>
          </a:xfrm>
          <a:prstGeom prst="roundRect">
            <a:avLst>
              <a:gd name="adj" fmla="val 12857"/>
            </a:avLst>
          </a:prstGeom>
          <a:solidFill>
            <a:srgbClr val="EFE9D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4206240" y="26974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71%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4206240" y="3429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Metro based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6537960" y="2606040"/>
            <a:ext cx="2423160" cy="1280160"/>
          </a:xfrm>
          <a:prstGeom prst="roundRect">
            <a:avLst>
              <a:gd name="adj" fmla="val 12857"/>
            </a:avLst>
          </a:prstGeom>
          <a:solidFill>
            <a:srgbClr val="EFE9D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 txBox="1"/>
          <p:nvPr/>
        </p:nvSpPr>
        <p:spPr>
          <a:xfrm>
            <a:off x="6812280" y="26974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52%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6812280" y="3429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Skews female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9144000" y="2606040"/>
            <a:ext cx="2423160" cy="1280160"/>
          </a:xfrm>
          <a:prstGeom prst="roundRect">
            <a:avLst>
              <a:gd name="adj" fmla="val 12857"/>
            </a:avLst>
          </a:prstGeom>
          <a:solidFill>
            <a:srgbClr val="EFE9D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9418320" y="26974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46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9418320" y="3429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Average age</a:t>
            </a:r>
            <a:endParaRPr lang="en-US" sz="1200" dirty="0"/>
          </a:p>
        </p:txBody>
      </p:sp>
      <p:sp>
        <p:nvSpPr>
          <p:cNvPr id="15" name="Tag Insight"/>
          <p:cNvSpPr/>
          <p:nvPr/>
        </p:nvSpPr>
        <p:spPr>
          <a:xfrm>
            <a:off x="3931920" y="4160520"/>
            <a:ext cx="864108" cy="310896"/>
          </a:xfrm>
          <a:prstGeom prst="roundRect">
            <a:avLst>
              <a:gd name="adj" fmla="val 50000"/>
            </a:avLst>
          </a:prstGeom>
          <a:solidFill>
            <a:srgbClr val="49C7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Insight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3931920" y="45720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Premium is the default, not a splurge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High ingredient literacy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Wants proof, not promises</a:t>
            </a:r>
            <a:endParaRPr lang="en-US" sz="1300" dirty="0"/>
          </a:p>
        </p:txBody>
      </p:sp>
      <p:sp>
        <p:nvSpPr>
          <p:cNvPr id="17" name="Tag Action"/>
          <p:cNvSpPr/>
          <p:nvPr/>
        </p:nvSpPr>
        <p:spPr>
          <a:xfrm>
            <a:off x="8001000" y="4160520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24664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001000" y="457200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Social and creators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Online video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Retail media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A5E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6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Decode. Develop. Deliver. </a:t>
            </a:r>
            <a:r>
              <a:rPr lang="en-US" sz="3600" i="1" dirty="0">
                <a:solidFill>
                  <a:srgbClr val="0F1D1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Optimise.</a:t>
            </a:r>
            <a:endParaRPr lang="en-US" sz="3600" dirty="0"/>
          </a:p>
        </p:txBody>
      </p:sp>
      <p:sp>
        <p:nvSpPr>
          <p:cNvPr id="3" name="Line"/>
          <p:cNvSpPr/>
          <p:nvPr/>
        </p:nvSpPr>
        <p:spPr>
          <a:xfrm>
            <a:off x="777240" y="2331720"/>
            <a:ext cx="8458200" cy="0"/>
          </a:xfrm>
          <a:prstGeom prst="line">
            <a:avLst/>
          </a:prstGeom>
          <a:noFill/>
          <a:ln w="25400">
            <a:solidFill>
              <a:srgbClr val="0F1D1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Journey dot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49C7EB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Journey dot"/>
          <p:cNvSpPr/>
          <p:nvPr/>
        </p:nvSpPr>
        <p:spPr>
          <a:xfrm>
            <a:off x="3368040" y="2103120"/>
            <a:ext cx="457200" cy="457200"/>
          </a:xfrm>
          <a:prstGeom prst="ellipse">
            <a:avLst/>
          </a:prstGeom>
          <a:solidFill>
            <a:srgbClr val="246646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Journey dot"/>
          <p:cNvSpPr/>
          <p:nvPr/>
        </p:nvSpPr>
        <p:spPr>
          <a:xfrm>
            <a:off x="6187440" y="2103120"/>
            <a:ext cx="457200" cy="457200"/>
          </a:xfrm>
          <a:prstGeom prst="ellipse">
            <a:avLst/>
          </a:prstGeom>
          <a:solidFill>
            <a:srgbClr val="246646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Journey dot"/>
          <p:cNvSpPr/>
          <p:nvPr/>
        </p:nvSpPr>
        <p:spPr>
          <a:xfrm>
            <a:off x="9006840" y="2103120"/>
            <a:ext cx="457200" cy="457200"/>
          </a:xfrm>
          <a:prstGeom prst="ellipse">
            <a:avLst/>
          </a:prstGeom>
          <a:solidFill>
            <a:srgbClr val="B5D337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 txBox="1"/>
          <p:nvPr/>
        </p:nvSpPr>
        <p:spPr>
          <a:xfrm>
            <a:off x="548640" y="2880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Decode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2900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 understand your goals, audience and the why.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880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Develop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342900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 create the behavioural plan.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880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Deliver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342900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 execute with precision and agility.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2880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Optimise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342900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 adapt, learn and optimise in flight.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A5E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6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Cost per new customer fell </a:t>
            </a:r>
            <a:r>
              <a:rPr lang="en-US" sz="3600" i="1" dirty="0">
                <a:solidFill>
                  <a:srgbClr val="0F1D1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every month.</a:t>
            </a:r>
            <a:endParaRPr lang="en-US" sz="3600" dirty="0"/>
          </a:p>
        </p:txBody>
      </p:sp>
      <p:graphicFrame>
        <p:nvGraphicFramePr>
          <p:cNvPr id="3" name="Chart"/>
          <p:cNvGraphicFramePr/>
          <p:nvPr/>
        </p:nvGraphicFramePr>
        <p:xfrm>
          <a:off x="548640" y="1828800"/>
          <a:ext cx="72237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ard"/>
          <p:cNvSpPr/>
          <p:nvPr/>
        </p:nvSpPr>
        <p:spPr>
          <a:xfrm>
            <a:off x="8092440" y="1828800"/>
            <a:ext cx="3520440" cy="4251960"/>
          </a:xfrm>
          <a:prstGeom prst="roundRect">
            <a:avLst>
              <a:gd name="adj" fmla="val 4675"/>
            </a:avLst>
          </a:prstGeom>
          <a:solidFill>
            <a:srgbClr val="EFE9D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ag Insight"/>
          <p:cNvSpPr/>
          <p:nvPr/>
        </p:nvSpPr>
        <p:spPr>
          <a:xfrm>
            <a:off x="8412480" y="2103120"/>
            <a:ext cx="864108" cy="310896"/>
          </a:xfrm>
          <a:prstGeom prst="roundRect">
            <a:avLst>
              <a:gd name="adj" fmla="val 50000"/>
            </a:avLst>
          </a:prstGeom>
          <a:solidFill>
            <a:srgbClr val="49C7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Insight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412480" y="25146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62% of spend reached existing customers.</a:t>
            </a:r>
            <a:endParaRPr lang="en-US" sz="1250" dirty="0"/>
          </a:p>
        </p:txBody>
      </p:sp>
      <p:sp>
        <p:nvSpPr>
          <p:cNvPr id="7" name="Tag Action"/>
          <p:cNvSpPr/>
          <p:nvPr/>
        </p:nvSpPr>
        <p:spPr>
          <a:xfrm>
            <a:off x="8412480" y="3383280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24664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Action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3794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Budget moved to in-market demand in March.</a:t>
            </a:r>
            <a:endParaRPr lang="en-US" sz="1250" dirty="0"/>
          </a:p>
        </p:txBody>
      </p:sp>
      <p:sp>
        <p:nvSpPr>
          <p:cNvPr id="9" name="Tag Outcome"/>
          <p:cNvSpPr/>
          <p:nvPr/>
        </p:nvSpPr>
        <p:spPr>
          <a:xfrm>
            <a:off x="8412480" y="4663440"/>
            <a:ext cx="864108" cy="310896"/>
          </a:xfrm>
          <a:prstGeom prst="roundRect">
            <a:avLst>
              <a:gd name="adj" fmla="val 50000"/>
            </a:avLst>
          </a:prstGeom>
          <a:solidFill>
            <a:srgbClr val="B5D3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Outcome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5074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Cost per new customer down 40% by June.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126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6A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Example figures.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A5E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6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Next </a:t>
            </a:r>
            <a:r>
              <a:rPr lang="en-US" sz="3600" i="1" dirty="0">
                <a:solidFill>
                  <a:srgbClr val="0F1D1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steps.</a:t>
            </a:r>
            <a:endParaRPr lang="en-US" sz="3600" dirty="0"/>
          </a:p>
        </p:txBody>
      </p:sp>
      <p:sp>
        <p:nvSpPr>
          <p:cNvPr id="3" name="Line"/>
          <p:cNvSpPr/>
          <p:nvPr/>
        </p:nvSpPr>
        <p:spPr>
          <a:xfrm>
            <a:off x="740664" y="2386584"/>
            <a:ext cx="8211312" cy="0"/>
          </a:xfrm>
          <a:prstGeom prst="line">
            <a:avLst/>
          </a:prstGeom>
          <a:noFill/>
          <a:ln w="25400">
            <a:solidFill>
              <a:srgbClr val="0F1D1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Journey dot"/>
          <p:cNvSpPr/>
          <p:nvPr/>
        </p:nvSpPr>
        <p:spPr>
          <a:xfrm>
            <a:off x="548640" y="2194560"/>
            <a:ext cx="384048" cy="384048"/>
          </a:xfrm>
          <a:prstGeom prst="ellipse">
            <a:avLst/>
          </a:prstGeom>
          <a:solidFill>
            <a:srgbClr val="49C7EB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Journey dot"/>
          <p:cNvSpPr/>
          <p:nvPr/>
        </p:nvSpPr>
        <p:spPr>
          <a:xfrm>
            <a:off x="3285744" y="2194560"/>
            <a:ext cx="384048" cy="384048"/>
          </a:xfrm>
          <a:prstGeom prst="ellipse">
            <a:avLst/>
          </a:prstGeom>
          <a:solidFill>
            <a:srgbClr val="246646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Journey dot"/>
          <p:cNvSpPr/>
          <p:nvPr/>
        </p:nvSpPr>
        <p:spPr>
          <a:xfrm>
            <a:off x="6022848" y="2194560"/>
            <a:ext cx="384048" cy="384048"/>
          </a:xfrm>
          <a:prstGeom prst="ellipse">
            <a:avLst/>
          </a:prstGeom>
          <a:solidFill>
            <a:srgbClr val="246646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Journey dot"/>
          <p:cNvSpPr/>
          <p:nvPr/>
        </p:nvSpPr>
        <p:spPr>
          <a:xfrm>
            <a:off x="8759952" y="2194560"/>
            <a:ext cx="384048" cy="384048"/>
          </a:xfrm>
          <a:prstGeom prst="ellipse">
            <a:avLst/>
          </a:prstGeom>
          <a:solidFill>
            <a:srgbClr val="B5D337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 txBox="1"/>
          <p:nvPr/>
        </p:nvSpPr>
        <p:spPr>
          <a:xfrm>
            <a:off x="548640" y="2834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46646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26 August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918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Feedback on the media direction from [Client]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834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46646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27 August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32918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Revised plan and MBA from Assembled Media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834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46646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29 August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32918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Sign-off so we can source specs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778240" y="2834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46646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ASAP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778240" y="32918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Campaign live, reported in AssembledView</a:t>
            </a:r>
            <a:endParaRPr lang="en-US" sz="1350" dirty="0"/>
          </a:p>
        </p:txBody>
      </p:sp>
      <p:sp>
        <p:nvSpPr>
          <p:cNvPr id="16" name="Button primary"/>
          <p:cNvSpPr/>
          <p:nvPr/>
        </p:nvSpPr>
        <p:spPr>
          <a:xfrm>
            <a:off x="548640" y="5120640"/>
            <a:ext cx="2011680" cy="402336"/>
          </a:xfrm>
          <a:prstGeom prst="roundRect">
            <a:avLst>
              <a:gd name="adj" fmla="val 50000"/>
            </a:avLst>
          </a:prstGeom>
          <a:solidFill>
            <a:srgbClr val="B5D3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Let's get started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A5E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8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Not where to find them. </a:t>
            </a:r>
            <a:r>
              <a:rPr lang="en-US" sz="3800" i="1" dirty="0">
                <a:solidFill>
                  <a:srgbClr val="0F1D1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Why they buy.</a:t>
            </a: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651760"/>
            <a:ext cx="5669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5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 decode the why behind consumer behaviour using ethnographic insight and psychographic profiling, then plan media around genuine demand drivers.</a:t>
            </a:r>
            <a:endParaRPr lang="en-US" sz="1500" dirty="0"/>
          </a:p>
        </p:txBody>
      </p:sp>
      <p:pic>
        <p:nvPicPr>
          <p:cNvPr id="4" name="Image 0" descr="Photo"/>
          <p:cNvPicPr>
            <a:picLocks noGrp="1" noChangeAspect="1"/>
          </p:cNvPicPr>
          <p:nvPr>
            <p:ph type="pic" idx="102" hasCustomPrompt="1"/>
          </p:nvPr>
        </p:nvPicPr>
        <p:blipFill>
          <a:blip r:embed="rId3"/>
          <a:srcRect l="10858" r="10858"/>
          <a:stretch/>
        </p:blipFill>
        <p:spPr>
          <a:xfrm>
            <a:off x="6949440" y="548640"/>
            <a:ext cx="3291840" cy="6309360"/>
          </a:xfrm>
          <a:prstGeom prst="round2SameRect">
            <a:avLst>
              <a:gd name="adj1" fmla="val 50000"/>
              <a:gd name="adj2" fmla="val 0"/>
            </a:avLst>
          </a:prstGeom>
        </p:spPr>
      </p:pic>
      <p:sp>
        <p:nvSpPr>
          <p:cNvPr id="5" name="Arch"/>
          <p:cNvSpPr/>
          <p:nvPr/>
        </p:nvSpPr>
        <p:spPr>
          <a:xfrm>
            <a:off x="10469880" y="3383280"/>
            <a:ext cx="777240" cy="34747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5D33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Focus ring"/>
          <p:cNvSpPr/>
          <p:nvPr/>
        </p:nvSpPr>
        <p:spPr>
          <a:xfrm>
            <a:off x="8241527" y="5212080"/>
            <a:ext cx="822960" cy="822960"/>
          </a:xfrm>
          <a:prstGeom prst="ellipse">
            <a:avLst/>
          </a:prstGeom>
          <a:ln w="57150">
            <a:solidFill>
              <a:srgbClr val="B5D33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A5E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sp>
        <p:nvSpPr>
          <p:cNvPr id="8" name="Arch">
            <a:extLst>
              <a:ext uri="{FF2B5EF4-FFF2-40B4-BE49-F238E27FC236}">
                <a16:creationId xmlns:a16="http://schemas.microsoft.com/office/drawing/2014/main" id="{8FE0A25E-491C-1D67-22EF-938B9BA985C4}"/>
              </a:ext>
            </a:extLst>
          </p:cNvPr>
          <p:cNvSpPr/>
          <p:nvPr/>
        </p:nvSpPr>
        <p:spPr>
          <a:xfrm>
            <a:off x="5850172" y="3864334"/>
            <a:ext cx="916388" cy="299366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9C7EB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h"/>
          <p:cNvSpPr/>
          <p:nvPr/>
        </p:nvSpPr>
        <p:spPr>
          <a:xfrm>
            <a:off x="7680960" y="3383280"/>
            <a:ext cx="1097280" cy="34747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9C7E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Arch"/>
          <p:cNvSpPr/>
          <p:nvPr/>
        </p:nvSpPr>
        <p:spPr>
          <a:xfrm>
            <a:off x="10652760" y="2377440"/>
            <a:ext cx="1097280" cy="44805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5D33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01168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40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Built to </a:t>
            </a:r>
            <a:r>
              <a:rPr lang="en-US" sz="64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change behaviour.</a:t>
            </a:r>
            <a:endParaRPr lang="en-US" sz="6400" dirty="0"/>
          </a:p>
        </p:txBody>
      </p:sp>
      <p:sp>
        <p:nvSpPr>
          <p:cNvPr id="5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457200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hello@assembledmedia.com.au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C9D3C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Level 1, 71 Palmerston Crescent, South Melbourne 3205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C9D3C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Level 2, 97 Rose St, Chippendale NSW 2008</a:t>
            </a:r>
            <a:endParaRPr lang="en-US" sz="1500" dirty="0"/>
          </a:p>
        </p:txBody>
      </p:sp>
      <p:pic>
        <p:nvPicPr>
          <p:cNvPr id="6" name="Image 0" descr="Photo"/>
          <p:cNvPicPr>
            <a:picLocks noGrp="1" noChangeAspect="1"/>
          </p:cNvPicPr>
          <p:nvPr>
            <p:ph type="pic" idx="103" hasCustomPrompt="1"/>
          </p:nvPr>
        </p:nvPicPr>
        <p:blipFill>
          <a:blip r:embed="rId3"/>
          <a:srcRect l="32110" r="32110"/>
          <a:stretch/>
        </p:blipFill>
        <p:spPr>
          <a:xfrm>
            <a:off x="9006840" y="914400"/>
            <a:ext cx="1417320" cy="5943600"/>
          </a:xfrm>
          <a:prstGeom prst="round2SameRect">
            <a:avLst>
              <a:gd name="adj1" fmla="val 50000"/>
              <a:gd name="adj2" fmla="val 0"/>
            </a:avLst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6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Header only: build anything here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A5E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F7233-4AFD-D29F-D5A1-1187CD71024C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Header only: build anything here</a:t>
            </a:r>
            <a:endParaRPr lang="en-A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2556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E0988-21D3-4C4E-2552-AE6B966C2192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 dirty="0"/>
              <a:t>Header only: build anything here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383541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A5E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A5E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EB9B0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Element </a:t>
            </a:r>
            <a:r>
              <a:rPr lang="en-US" sz="3400" i="1" dirty="0">
                <a:solidFill>
                  <a:srgbClr val="0F1D1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library.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Copy and paste. Every item is a normal shape you can move, resize or recolour.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4664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PILLS</a:t>
            </a:r>
            <a:endParaRPr lang="en-US" sz="1050" dirty="0"/>
          </a:p>
        </p:txBody>
      </p:sp>
      <p:sp>
        <p:nvSpPr>
          <p:cNvPr id="5" name="Pill"/>
          <p:cNvSpPr/>
          <p:nvPr/>
        </p:nvSpPr>
        <p:spPr>
          <a:xfrm>
            <a:off x="548640" y="2926080"/>
            <a:ext cx="384048" cy="1097280"/>
          </a:xfrm>
          <a:prstGeom prst="roundRect">
            <a:avLst>
              <a:gd name="adj" fmla="val 50000"/>
            </a:avLst>
          </a:prstGeom>
          <a:solidFill>
            <a:srgbClr val="49C7E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Pill"/>
          <p:cNvSpPr/>
          <p:nvPr/>
        </p:nvSpPr>
        <p:spPr>
          <a:xfrm>
            <a:off x="1051560" y="2560320"/>
            <a:ext cx="384048" cy="1463040"/>
          </a:xfrm>
          <a:prstGeom prst="roundRect">
            <a:avLst>
              <a:gd name="adj" fmla="val 50000"/>
            </a:avLst>
          </a:prstGeom>
          <a:solidFill>
            <a:srgbClr val="24664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Pill"/>
          <p:cNvSpPr/>
          <p:nvPr/>
        </p:nvSpPr>
        <p:spPr>
          <a:xfrm>
            <a:off x="1554480" y="2194560"/>
            <a:ext cx="384048" cy="1828800"/>
          </a:xfrm>
          <a:prstGeom prst="roundRect">
            <a:avLst>
              <a:gd name="adj" fmla="val 50000"/>
            </a:avLst>
          </a:prstGeom>
          <a:solidFill>
            <a:srgbClr val="B5D33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Pill"/>
          <p:cNvSpPr/>
          <p:nvPr/>
        </p:nvSpPr>
        <p:spPr>
          <a:xfrm>
            <a:off x="2057400" y="2743200"/>
            <a:ext cx="384048" cy="1280160"/>
          </a:xfrm>
          <a:prstGeom prst="roundRect">
            <a:avLst>
              <a:gd name="adj" fmla="val 50000"/>
            </a:avLst>
          </a:prstGeom>
          <a:solidFill>
            <a:srgbClr val="0F1D1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 txBox="1"/>
          <p:nvPr/>
        </p:nvSpPr>
        <p:spPr>
          <a:xfrm>
            <a:off x="283464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4664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ARCHES</a:t>
            </a:r>
            <a:endParaRPr lang="en-US" sz="1050" dirty="0"/>
          </a:p>
        </p:txBody>
      </p:sp>
      <p:sp>
        <p:nvSpPr>
          <p:cNvPr id="10" name="Arch"/>
          <p:cNvSpPr/>
          <p:nvPr/>
        </p:nvSpPr>
        <p:spPr>
          <a:xfrm>
            <a:off x="2834640" y="2834640"/>
            <a:ext cx="502920" cy="11887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9C7E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Arch"/>
          <p:cNvSpPr/>
          <p:nvPr/>
        </p:nvSpPr>
        <p:spPr>
          <a:xfrm>
            <a:off x="3429000" y="2468880"/>
            <a:ext cx="50292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664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Arch"/>
          <p:cNvSpPr/>
          <p:nvPr/>
        </p:nvSpPr>
        <p:spPr>
          <a:xfrm>
            <a:off x="4023360" y="2194560"/>
            <a:ext cx="502920" cy="1828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5D33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 txBox="1"/>
          <p:nvPr/>
        </p:nvSpPr>
        <p:spPr>
          <a:xfrm>
            <a:off x="493776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4664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PHOTO IN ARCH</a:t>
            </a:r>
            <a:endParaRPr lang="en-US" sz="1050" dirty="0"/>
          </a:p>
        </p:txBody>
      </p:sp>
      <p:pic>
        <p:nvPicPr>
          <p:cNvPr id="14" name="Image 0" descr="Photo"/>
          <p:cNvPicPr>
            <a:picLocks noChangeAspect="1"/>
          </p:cNvPicPr>
          <p:nvPr/>
        </p:nvPicPr>
        <p:blipFill>
          <a:blip r:embed="rId3"/>
          <a:srcRect l="8650" r="8650"/>
          <a:stretch>
            <a:fillRect/>
          </a:stretch>
        </p:blipFill>
        <p:spPr>
          <a:xfrm>
            <a:off x="4937760" y="2194560"/>
            <a:ext cx="1097280" cy="1828800"/>
          </a:xfrm>
          <a:prstGeom prst="round2SameRect">
            <a:avLst>
              <a:gd name="adj1" fmla="val 50000"/>
              <a:gd name="adj2" fmla="val 0"/>
            </a:avLst>
          </a:prstGeom>
        </p:spPr>
      </p:pic>
      <p:sp>
        <p:nvSpPr>
          <p:cNvPr id="15" name="Focus ring"/>
          <p:cNvSpPr/>
          <p:nvPr/>
        </p:nvSpPr>
        <p:spPr>
          <a:xfrm>
            <a:off x="5230368" y="2810786"/>
            <a:ext cx="502920" cy="502920"/>
          </a:xfrm>
          <a:prstGeom prst="ellipse">
            <a:avLst/>
          </a:prstGeom>
          <a:ln w="57150">
            <a:solidFill>
              <a:srgbClr val="B5D33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3"/>
          <p:cNvSpPr txBox="1"/>
          <p:nvPr/>
        </p:nvSpPr>
        <p:spPr>
          <a:xfrm>
            <a:off x="658368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4664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FOCUS RING</a:t>
            </a:r>
            <a:endParaRPr lang="en-US" sz="1050" dirty="0"/>
          </a:p>
        </p:txBody>
      </p:sp>
      <p:sp>
        <p:nvSpPr>
          <p:cNvPr id="17" name="Focus ring"/>
          <p:cNvSpPr/>
          <p:nvPr/>
        </p:nvSpPr>
        <p:spPr>
          <a:xfrm>
            <a:off x="6583680" y="2286000"/>
            <a:ext cx="731520" cy="731520"/>
          </a:xfrm>
          <a:prstGeom prst="ellipse">
            <a:avLst/>
          </a:prstGeom>
          <a:ln w="57150">
            <a:solidFill>
              <a:srgbClr val="B5D33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Focus ring"/>
          <p:cNvSpPr/>
          <p:nvPr/>
        </p:nvSpPr>
        <p:spPr>
          <a:xfrm>
            <a:off x="7452360" y="2514600"/>
            <a:ext cx="502920" cy="502920"/>
          </a:xfrm>
          <a:prstGeom prst="ellipse">
            <a:avLst/>
          </a:prstGeom>
          <a:ln w="57150">
            <a:solidFill>
              <a:srgbClr val="B5D33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6"/>
          <p:cNvSpPr txBox="1"/>
          <p:nvPr/>
        </p:nvSpPr>
        <p:spPr>
          <a:xfrm>
            <a:off x="850392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4664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CIRCLES</a:t>
            </a:r>
            <a:endParaRPr lang="en-US" sz="1050" dirty="0"/>
          </a:p>
        </p:txBody>
      </p:sp>
      <p:sp>
        <p:nvSpPr>
          <p:cNvPr id="20" name="Circle"/>
          <p:cNvSpPr/>
          <p:nvPr/>
        </p:nvSpPr>
        <p:spPr>
          <a:xfrm>
            <a:off x="8503920" y="2286000"/>
            <a:ext cx="457200" cy="457200"/>
          </a:xfrm>
          <a:prstGeom prst="ellipse">
            <a:avLst/>
          </a:prstGeom>
          <a:solidFill>
            <a:srgbClr val="49C7E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Circle"/>
          <p:cNvSpPr/>
          <p:nvPr/>
        </p:nvSpPr>
        <p:spPr>
          <a:xfrm>
            <a:off x="9052560" y="2286000"/>
            <a:ext cx="457200" cy="457200"/>
          </a:xfrm>
          <a:prstGeom prst="ellipse">
            <a:avLst/>
          </a:prstGeom>
          <a:solidFill>
            <a:srgbClr val="24664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Circle"/>
          <p:cNvSpPr/>
          <p:nvPr/>
        </p:nvSpPr>
        <p:spPr>
          <a:xfrm>
            <a:off x="9601200" y="2286000"/>
            <a:ext cx="457200" cy="457200"/>
          </a:xfrm>
          <a:prstGeom prst="ellipse">
            <a:avLst/>
          </a:prstGeom>
          <a:solidFill>
            <a:srgbClr val="B5D33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Circle"/>
          <p:cNvSpPr/>
          <p:nvPr/>
        </p:nvSpPr>
        <p:spPr>
          <a:xfrm>
            <a:off x="10149840" y="2286000"/>
            <a:ext cx="457200" cy="457200"/>
          </a:xfrm>
          <a:prstGeom prst="ellipse">
            <a:avLst/>
          </a:prstGeom>
          <a:solidFill>
            <a:srgbClr val="0F1D1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Text 21"/>
          <p:cNvSpPr txBox="1"/>
          <p:nvPr/>
        </p:nvSpPr>
        <p:spPr>
          <a:xfrm>
            <a:off x="8503920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4664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CARDS</a:t>
            </a:r>
            <a:endParaRPr lang="en-US" sz="1050" dirty="0"/>
          </a:p>
        </p:txBody>
      </p:sp>
      <p:sp>
        <p:nvSpPr>
          <p:cNvPr id="25" name="Card"/>
          <p:cNvSpPr/>
          <p:nvPr/>
        </p:nvSpPr>
        <p:spPr>
          <a:xfrm>
            <a:off x="8503920" y="3337560"/>
            <a:ext cx="137160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Card"/>
          <p:cNvSpPr/>
          <p:nvPr/>
        </p:nvSpPr>
        <p:spPr>
          <a:xfrm>
            <a:off x="10012680" y="3337560"/>
            <a:ext cx="1371600" cy="914400"/>
          </a:xfrm>
          <a:prstGeom prst="roundRect">
            <a:avLst>
              <a:gd name="adj" fmla="val 18000"/>
            </a:avLst>
          </a:prstGeom>
          <a:solidFill>
            <a:srgbClr val="0F1D1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4"/>
          <p:cNvSpPr txBox="1"/>
          <p:nvPr/>
        </p:nvSpPr>
        <p:spPr>
          <a:xfrm>
            <a:off x="548640" y="4343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4664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TAGS</a:t>
            </a:r>
            <a:endParaRPr lang="en-US" sz="1050" dirty="0"/>
          </a:p>
        </p:txBody>
      </p:sp>
      <p:sp>
        <p:nvSpPr>
          <p:cNvPr id="28" name="Tag Insight"/>
          <p:cNvSpPr/>
          <p:nvPr/>
        </p:nvSpPr>
        <p:spPr>
          <a:xfrm>
            <a:off x="548640" y="4663440"/>
            <a:ext cx="864108" cy="310896"/>
          </a:xfrm>
          <a:prstGeom prst="roundRect">
            <a:avLst>
              <a:gd name="adj" fmla="val 50000"/>
            </a:avLst>
          </a:prstGeom>
          <a:solidFill>
            <a:srgbClr val="49C7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Insight</a:t>
            </a:r>
            <a:endParaRPr lang="en-US" sz="1100" dirty="0"/>
          </a:p>
        </p:txBody>
      </p:sp>
      <p:sp>
        <p:nvSpPr>
          <p:cNvPr id="29" name="Tag Action"/>
          <p:cNvSpPr/>
          <p:nvPr/>
        </p:nvSpPr>
        <p:spPr>
          <a:xfrm>
            <a:off x="1508760" y="4663440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24664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Action</a:t>
            </a:r>
            <a:endParaRPr lang="en-US" sz="1100" dirty="0"/>
          </a:p>
        </p:txBody>
      </p:sp>
      <p:sp>
        <p:nvSpPr>
          <p:cNvPr id="30" name="Tag Outcome"/>
          <p:cNvSpPr/>
          <p:nvPr/>
        </p:nvSpPr>
        <p:spPr>
          <a:xfrm>
            <a:off x="2423160" y="4663440"/>
            <a:ext cx="864108" cy="310896"/>
          </a:xfrm>
          <a:prstGeom prst="roundRect">
            <a:avLst>
              <a:gd name="adj" fmla="val 50000"/>
            </a:avLst>
          </a:prstGeom>
          <a:solidFill>
            <a:srgbClr val="B5D3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Outcome</a:t>
            </a:r>
            <a:endParaRPr lang="en-US" sz="1100" dirty="0"/>
          </a:p>
        </p:txBody>
      </p:sp>
      <p:sp>
        <p:nvSpPr>
          <p:cNvPr id="31" name="Tag Label"/>
          <p:cNvSpPr/>
          <p:nvPr/>
        </p:nvSpPr>
        <p:spPr>
          <a:xfrm>
            <a:off x="3520440" y="4663440"/>
            <a:ext cx="708660" cy="310896"/>
          </a:xfrm>
          <a:prstGeom prst="roundRect">
            <a:avLst>
              <a:gd name="adj" fmla="val 50000"/>
            </a:avLst>
          </a:prstGeom>
          <a:solidFill>
            <a:srgbClr val="0F1D1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Label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5120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4664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BUTTONS</a:t>
            </a:r>
            <a:endParaRPr lang="en-US" sz="1050" dirty="0"/>
          </a:p>
        </p:txBody>
      </p:sp>
      <p:sp>
        <p:nvSpPr>
          <p:cNvPr id="33" name="Button primary"/>
          <p:cNvSpPr/>
          <p:nvPr/>
        </p:nvSpPr>
        <p:spPr>
          <a:xfrm>
            <a:off x="548640" y="5440680"/>
            <a:ext cx="1828800" cy="402336"/>
          </a:xfrm>
          <a:prstGeom prst="roundRect">
            <a:avLst>
              <a:gd name="adj" fmla="val 50000"/>
            </a:avLst>
          </a:prstGeom>
          <a:solidFill>
            <a:srgbClr val="B5D3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D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Start a project</a:t>
            </a:r>
            <a:endParaRPr lang="en-US" sz="1200" dirty="0"/>
          </a:p>
        </p:txBody>
      </p:sp>
      <p:sp>
        <p:nvSpPr>
          <p:cNvPr id="34" name="Button secondary"/>
          <p:cNvSpPr/>
          <p:nvPr/>
        </p:nvSpPr>
        <p:spPr>
          <a:xfrm>
            <a:off x="2514600" y="5440680"/>
            <a:ext cx="1554480" cy="402336"/>
          </a:xfrm>
          <a:prstGeom prst="roundRect">
            <a:avLst>
              <a:gd name="adj" fmla="val 50000"/>
            </a:avLst>
          </a:prstGeom>
          <a:ln w="19050">
            <a:solidFill>
              <a:srgbClr val="24664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664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See our work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4937760" y="4343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4664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JOURNEY LINE</a:t>
            </a:r>
            <a:endParaRPr lang="en-US" sz="1050" dirty="0"/>
          </a:p>
        </p:txBody>
      </p:sp>
      <p:sp>
        <p:nvSpPr>
          <p:cNvPr id="36" name="Line"/>
          <p:cNvSpPr/>
          <p:nvPr/>
        </p:nvSpPr>
        <p:spPr>
          <a:xfrm>
            <a:off x="5102352" y="4873752"/>
            <a:ext cx="2779776" cy="0"/>
          </a:xfrm>
          <a:prstGeom prst="line">
            <a:avLst/>
          </a:prstGeom>
          <a:noFill/>
          <a:ln w="25400">
            <a:solidFill>
              <a:srgbClr val="0F1D1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Journey dot"/>
          <p:cNvSpPr/>
          <p:nvPr/>
        </p:nvSpPr>
        <p:spPr>
          <a:xfrm>
            <a:off x="4937760" y="4709160"/>
            <a:ext cx="329184" cy="329184"/>
          </a:xfrm>
          <a:prstGeom prst="ellipse">
            <a:avLst/>
          </a:prstGeom>
          <a:solidFill>
            <a:srgbClr val="49C7EB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Journey dot"/>
          <p:cNvSpPr/>
          <p:nvPr/>
        </p:nvSpPr>
        <p:spPr>
          <a:xfrm>
            <a:off x="5864352" y="4709160"/>
            <a:ext cx="329184" cy="329184"/>
          </a:xfrm>
          <a:prstGeom prst="ellipse">
            <a:avLst/>
          </a:prstGeom>
          <a:solidFill>
            <a:srgbClr val="246646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9" name="Journey dot"/>
          <p:cNvSpPr/>
          <p:nvPr/>
        </p:nvSpPr>
        <p:spPr>
          <a:xfrm>
            <a:off x="6790944" y="4709160"/>
            <a:ext cx="329184" cy="329184"/>
          </a:xfrm>
          <a:prstGeom prst="ellipse">
            <a:avLst/>
          </a:prstGeom>
          <a:solidFill>
            <a:srgbClr val="246646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Journey dot"/>
          <p:cNvSpPr/>
          <p:nvPr/>
        </p:nvSpPr>
        <p:spPr>
          <a:xfrm>
            <a:off x="7717536" y="4709160"/>
            <a:ext cx="329184" cy="329184"/>
          </a:xfrm>
          <a:prstGeom prst="ellipse">
            <a:avLst/>
          </a:prstGeom>
          <a:solidFill>
            <a:srgbClr val="B5D337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1" name="Text 38"/>
          <p:cNvSpPr txBox="1"/>
          <p:nvPr/>
        </p:nvSpPr>
        <p:spPr>
          <a:xfrm>
            <a:off x="4937760" y="5120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4664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NUMBER DOTS AND ARROWS</a:t>
            </a:r>
            <a:endParaRPr lang="en-US" sz="1050" dirty="0"/>
          </a:p>
        </p:txBody>
      </p:sp>
      <p:sp>
        <p:nvSpPr>
          <p:cNvPr id="42" name="Number dot"/>
          <p:cNvSpPr/>
          <p:nvPr/>
        </p:nvSpPr>
        <p:spPr>
          <a:xfrm>
            <a:off x="4937760" y="5440680"/>
            <a:ext cx="457200" cy="457200"/>
          </a:xfrm>
          <a:prstGeom prst="ellipse">
            <a:avLst/>
          </a:prstGeom>
          <a:solidFill>
            <a:srgbClr val="49C7E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1</a:t>
            </a:r>
            <a:endParaRPr lang="en-US" sz="1400" dirty="0"/>
          </a:p>
        </p:txBody>
      </p:sp>
      <p:sp>
        <p:nvSpPr>
          <p:cNvPr id="43" name="Number dot"/>
          <p:cNvSpPr/>
          <p:nvPr/>
        </p:nvSpPr>
        <p:spPr>
          <a:xfrm>
            <a:off x="5532120" y="5440680"/>
            <a:ext cx="457200" cy="457200"/>
          </a:xfrm>
          <a:prstGeom prst="ellipse">
            <a:avLst/>
          </a:prstGeom>
          <a:solidFill>
            <a:srgbClr val="4E8F6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2</a:t>
            </a:r>
            <a:endParaRPr lang="en-US" sz="1400" dirty="0"/>
          </a:p>
        </p:txBody>
      </p:sp>
      <p:sp>
        <p:nvSpPr>
          <p:cNvPr id="44" name="Number dot"/>
          <p:cNvSpPr/>
          <p:nvPr/>
        </p:nvSpPr>
        <p:spPr>
          <a:xfrm>
            <a:off x="6126480" y="5440680"/>
            <a:ext cx="457200" cy="457200"/>
          </a:xfrm>
          <a:prstGeom prst="ellipse">
            <a:avLst/>
          </a:prstGeom>
          <a:solidFill>
            <a:srgbClr val="B5D3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3</a:t>
            </a:r>
            <a:endParaRPr lang="en-US" sz="1400" dirty="0"/>
          </a:p>
        </p:txBody>
      </p:sp>
      <p:sp>
        <p:nvSpPr>
          <p:cNvPr id="45" name="Arrow"/>
          <p:cNvSpPr/>
          <p:nvPr/>
        </p:nvSpPr>
        <p:spPr>
          <a:xfrm>
            <a:off x="6858000" y="5486400"/>
            <a:ext cx="256032" cy="365760"/>
          </a:xfrm>
          <a:prstGeom prst="chevron">
            <a:avLst/>
          </a:prstGeom>
          <a:solidFill>
            <a:srgbClr val="B5D33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6" name="Arrow"/>
          <p:cNvSpPr/>
          <p:nvPr/>
        </p:nvSpPr>
        <p:spPr>
          <a:xfrm>
            <a:off x="7223760" y="5486400"/>
            <a:ext cx="256032" cy="365760"/>
          </a:xfrm>
          <a:prstGeom prst="chevron">
            <a:avLst/>
          </a:prstGeom>
          <a:solidFill>
            <a:srgbClr val="24664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7" name="Text 44"/>
          <p:cNvSpPr txBox="1"/>
          <p:nvPr/>
        </p:nvSpPr>
        <p:spPr>
          <a:xfrm>
            <a:off x="8503920" y="4434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4664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ARCH TRIO</a:t>
            </a:r>
            <a:endParaRPr lang="en-US" sz="1050" dirty="0"/>
          </a:p>
        </p:txBody>
      </p:sp>
      <p:sp>
        <p:nvSpPr>
          <p:cNvPr id="48" name="Arch"/>
          <p:cNvSpPr/>
          <p:nvPr/>
        </p:nvSpPr>
        <p:spPr>
          <a:xfrm>
            <a:off x="8503920" y="5327294"/>
            <a:ext cx="345643" cy="84490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9C7E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9" name="Arch"/>
          <p:cNvSpPr/>
          <p:nvPr/>
        </p:nvSpPr>
        <p:spPr>
          <a:xfrm>
            <a:off x="8907170" y="4981651"/>
            <a:ext cx="345643" cy="119054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664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0" name="Arch"/>
          <p:cNvSpPr/>
          <p:nvPr/>
        </p:nvSpPr>
        <p:spPr>
          <a:xfrm>
            <a:off x="9310421" y="4559198"/>
            <a:ext cx="345643" cy="1613002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5D33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1" name="Text 48"/>
          <p:cNvSpPr txBox="1"/>
          <p:nvPr/>
        </p:nvSpPr>
        <p:spPr>
          <a:xfrm>
            <a:off x="10058400" y="4434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4664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LINES</a:t>
            </a:r>
            <a:endParaRPr lang="en-US" sz="1050" dirty="0"/>
          </a:p>
        </p:txBody>
      </p:sp>
      <p:sp>
        <p:nvSpPr>
          <p:cNvPr id="52" name="Line"/>
          <p:cNvSpPr/>
          <p:nvPr/>
        </p:nvSpPr>
        <p:spPr>
          <a:xfrm>
            <a:off x="10058400" y="4846320"/>
            <a:ext cx="1554480" cy="0"/>
          </a:xfrm>
          <a:prstGeom prst="line">
            <a:avLst/>
          </a:prstGeom>
          <a:noFill/>
          <a:ln w="19050">
            <a:solidFill>
              <a:srgbClr val="0F1D1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3" name="Line"/>
          <p:cNvSpPr/>
          <p:nvPr/>
        </p:nvSpPr>
        <p:spPr>
          <a:xfrm>
            <a:off x="10058400" y="5074920"/>
            <a:ext cx="1554480" cy="0"/>
          </a:xfrm>
          <a:prstGeom prst="line">
            <a:avLst/>
          </a:prstGeom>
          <a:noFill/>
          <a:ln w="12700">
            <a:solidFill>
              <a:srgbClr val="CFC8B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4" name="Text 51"/>
          <p:cNvSpPr txBox="1"/>
          <p:nvPr/>
        </p:nvSpPr>
        <p:spPr>
          <a:xfrm>
            <a:off x="10058400" y="5349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4664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FLIGHT BAR</a:t>
            </a:r>
            <a:endParaRPr lang="en-US" sz="1050" dirty="0"/>
          </a:p>
        </p:txBody>
      </p:sp>
      <p:sp>
        <p:nvSpPr>
          <p:cNvPr id="55" name="Pill"/>
          <p:cNvSpPr/>
          <p:nvPr/>
        </p:nvSpPr>
        <p:spPr>
          <a:xfrm>
            <a:off x="10058400" y="566928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B5D33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A5E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What we will </a:t>
            </a:r>
            <a:pPr algn="l" indent="0" marL="0">
              <a:lnSpc>
                <a:spcPct val="95000"/>
              </a:lnSpc>
              <a:buNone/>
            </a:pPr>
            <a:r>
              <a:rPr lang="en-US" sz="4000" i="1" dirty="0">
                <a:solidFill>
                  <a:srgbClr val="0F1D1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run through.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plan for the next 12 months, and how we will measure it.</a:t>
            </a:r>
            <a:endParaRPr lang="en-US" sz="15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852160" y="658368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246646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6812280" y="658368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Decoding the task</a:t>
            </a:r>
            <a:endParaRPr lang="en-US" sz="1900" dirty="0"/>
          </a:p>
        </p:txBody>
      </p:sp>
      <p:sp>
        <p:nvSpPr>
          <p:cNvPr id="6" name="Text 2"/>
          <p:cNvSpPr/>
          <p:nvPr>
            <p:ph idx="106" type="body" hasCustomPrompt="1"/>
          </p:nvPr>
        </p:nvSpPr>
        <p:spPr>
          <a:xfrm>
            <a:off x="5852160" y="1572768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246646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02</a:t>
            </a:r>
            <a:endParaRPr lang="en-US" sz="3000" dirty="0"/>
          </a:p>
        </p:txBody>
      </p:sp>
      <p:sp>
        <p:nvSpPr>
          <p:cNvPr id="7" name="Text 2"/>
          <p:cNvSpPr/>
          <p:nvPr>
            <p:ph idx="107" type="body" hasCustomPrompt="1"/>
          </p:nvPr>
        </p:nvSpPr>
        <p:spPr>
          <a:xfrm>
            <a:off x="6812280" y="1572768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Developing the strategy</a:t>
            </a:r>
            <a:endParaRPr lang="en-US" sz="1900" dirty="0"/>
          </a:p>
        </p:txBody>
      </p:sp>
      <p:sp>
        <p:nvSpPr>
          <p:cNvPr id="8" name="Text 3"/>
          <p:cNvSpPr/>
          <p:nvPr>
            <p:ph idx="109" type="body" hasCustomPrompt="1"/>
          </p:nvPr>
        </p:nvSpPr>
        <p:spPr>
          <a:xfrm>
            <a:off x="5852160" y="2487168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246646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03</a:t>
            </a:r>
            <a:endParaRPr lang="en-US" sz="3000" dirty="0"/>
          </a:p>
        </p:txBody>
      </p:sp>
      <p:sp>
        <p:nvSpPr>
          <p:cNvPr id="9" name="Text 3"/>
          <p:cNvSpPr/>
          <p:nvPr>
            <p:ph idx="110" type="body" hasCustomPrompt="1"/>
          </p:nvPr>
        </p:nvSpPr>
        <p:spPr>
          <a:xfrm>
            <a:off x="6812280" y="2487168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Delivering real results</a:t>
            </a:r>
            <a:endParaRPr lang="en-US" sz="1900" dirty="0"/>
          </a:p>
        </p:txBody>
      </p:sp>
      <p:sp>
        <p:nvSpPr>
          <p:cNvPr id="10" name="Text 4"/>
          <p:cNvSpPr/>
          <p:nvPr>
            <p:ph idx="112" type="body" hasCustomPrompt="1"/>
          </p:nvPr>
        </p:nvSpPr>
        <p:spPr>
          <a:xfrm>
            <a:off x="5852160" y="3401568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246646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04</a:t>
            </a:r>
            <a:endParaRPr lang="en-US" sz="3000" dirty="0"/>
          </a:p>
        </p:txBody>
      </p:sp>
      <p:sp>
        <p:nvSpPr>
          <p:cNvPr id="11" name="Text 4"/>
          <p:cNvSpPr/>
          <p:nvPr>
            <p:ph idx="113" type="body" hasCustomPrompt="1"/>
          </p:nvPr>
        </p:nvSpPr>
        <p:spPr>
          <a:xfrm>
            <a:off x="6812280" y="3401568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Measurement and reporting</a:t>
            </a:r>
            <a:endParaRPr lang="en-US" sz="1900" dirty="0"/>
          </a:p>
        </p:txBody>
      </p:sp>
      <p:sp>
        <p:nvSpPr>
          <p:cNvPr id="12" name="Text 5"/>
          <p:cNvSpPr/>
          <p:nvPr>
            <p:ph idx="115" type="body" hasCustomPrompt="1"/>
          </p:nvPr>
        </p:nvSpPr>
        <p:spPr>
          <a:xfrm>
            <a:off x="5852160" y="4315968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246646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05</a:t>
            </a:r>
            <a:endParaRPr lang="en-US" sz="3000" dirty="0"/>
          </a:p>
        </p:txBody>
      </p:sp>
      <p:sp>
        <p:nvSpPr>
          <p:cNvPr id="13" name="Text 5"/>
          <p:cNvSpPr/>
          <p:nvPr>
            <p:ph idx="116" type="body" hasCustomPrompt="1"/>
          </p:nvPr>
        </p:nvSpPr>
        <p:spPr>
          <a:xfrm>
            <a:off x="6812280" y="4315968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Team and ways of working</a:t>
            </a:r>
            <a:endParaRPr lang="en-US" sz="1900" dirty="0"/>
          </a:p>
        </p:txBody>
      </p:sp>
      <p:sp>
        <p:nvSpPr>
          <p:cNvPr id="14" name="Text 6"/>
          <p:cNvSpPr/>
          <p:nvPr>
            <p:ph idx="118" type="body" hasCustomPrompt="1"/>
          </p:nvPr>
        </p:nvSpPr>
        <p:spPr>
          <a:xfrm>
            <a:off x="5852160" y="5230368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246646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06</a:t>
            </a:r>
            <a:endParaRPr lang="en-US" sz="3000" dirty="0"/>
          </a:p>
        </p:txBody>
      </p:sp>
      <p:sp>
        <p:nvSpPr>
          <p:cNvPr id="15" name="Text 6"/>
          <p:cNvSpPr/>
          <p:nvPr>
            <p:ph idx="119" type="body" hasCustomPrompt="1"/>
          </p:nvPr>
        </p:nvSpPr>
        <p:spPr>
          <a:xfrm>
            <a:off x="6812280" y="5230368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Commercials and next steps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A5E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Where we are. </a:t>
            </a:r>
            <a:pPr algn="l" indent="0" marL="0">
              <a:lnSpc>
                <a:spcPct val="95000"/>
              </a:lnSpc>
              <a:buNone/>
            </a:pPr>
            <a:r>
              <a:rPr lang="en-US" sz="3600" i="1" dirty="0">
                <a:solidFill>
                  <a:srgbClr val="0F1D1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Where we are going.</a:t>
            </a:r>
            <a:endParaRPr lang="en-US" sz="36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21945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Today</a:t>
            </a:r>
            <a:endParaRPr lang="en-US" sz="2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548640" y="283464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Spend spread across nine channels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Reporting lags by four weeks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Creative refreshed twice a year</a:t>
            </a:r>
            <a:endParaRPr lang="en-US" sz="15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6309360" y="21945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In 12 months</a:t>
            </a:r>
            <a:endParaRPr lang="en-US" sz="2000" dirty="0"/>
          </a:p>
        </p:txBody>
      </p:sp>
      <p:sp>
        <p:nvSpPr>
          <p:cNvPr id="6" name="Text 2"/>
          <p:cNvSpPr/>
          <p:nvPr>
            <p:ph idx="106" type="body" hasCustomPrompt="1"/>
          </p:nvPr>
        </p:nvSpPr>
        <p:spPr>
          <a:xfrm>
            <a:off x="6309360" y="283464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Five channels doing the heavy lifting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Live dashboard in AssembledView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Creative tested and rotated monthly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A5E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Three things </a:t>
            </a:r>
            <a:pPr algn="l" indent="0" marL="0">
              <a:lnSpc>
                <a:spcPct val="95000"/>
              </a:lnSpc>
              <a:buNone/>
            </a:pPr>
            <a:r>
              <a:rPr lang="en-US" sz="3600" i="1" dirty="0">
                <a:solidFill>
                  <a:srgbClr val="0F1D1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set us apart.</a:t>
            </a:r>
            <a:endParaRPr lang="en-US" sz="36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868680" y="3108960"/>
            <a:ext cx="286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Behaviour first</a:t>
            </a:r>
            <a:endParaRPr lang="en-US" sz="2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68680" y="3977640"/>
            <a:ext cx="2865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 plan around why people buy, not only where they scroll.</a:t>
            </a:r>
            <a:endParaRPr lang="en-US" sz="1400" dirty="0"/>
          </a:p>
        </p:txBody>
      </p:sp>
      <p:sp>
        <p:nvSpPr>
          <p:cNvPr id="5" name="Text 4"/>
          <p:cNvSpPr/>
          <p:nvPr>
            <p:ph idx="107" type="body" hasCustomPrompt="1"/>
          </p:nvPr>
        </p:nvSpPr>
        <p:spPr>
          <a:xfrm>
            <a:off x="4648200" y="3108960"/>
            <a:ext cx="286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Built to act</a:t>
            </a:r>
            <a:endParaRPr lang="en-US" sz="2000" dirty="0"/>
          </a:p>
        </p:txBody>
      </p:sp>
      <p:sp>
        <p:nvSpPr>
          <p:cNvPr id="6" name="Text 4"/>
          <p:cNvSpPr/>
          <p:nvPr>
            <p:ph idx="108" type="body" hasCustomPrompt="1"/>
          </p:nvPr>
        </p:nvSpPr>
        <p:spPr>
          <a:xfrm>
            <a:off x="4648200" y="3977640"/>
            <a:ext cx="2865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Every insight comes with a clear action and an owner.</a:t>
            </a:r>
            <a:endParaRPr lang="en-US" sz="1400" dirty="0"/>
          </a:p>
        </p:txBody>
      </p:sp>
      <p:sp>
        <p:nvSpPr>
          <p:cNvPr id="7" name="Text 6"/>
          <p:cNvSpPr/>
          <p:nvPr>
            <p:ph idx="111" type="body" hasCustomPrompt="1"/>
          </p:nvPr>
        </p:nvSpPr>
        <p:spPr>
          <a:xfrm>
            <a:off x="8427720" y="3108960"/>
            <a:ext cx="286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Measured outcomes</a:t>
            </a:r>
            <a:endParaRPr lang="en-US" sz="2000" dirty="0"/>
          </a:p>
        </p:txBody>
      </p:sp>
      <p:sp>
        <p:nvSpPr>
          <p:cNvPr id="8" name="Text 6"/>
          <p:cNvSpPr/>
          <p:nvPr>
            <p:ph idx="112" type="body" hasCustomPrompt="1"/>
          </p:nvPr>
        </p:nvSpPr>
        <p:spPr>
          <a:xfrm>
            <a:off x="8427720" y="3977640"/>
            <a:ext cx="2865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Results reported live in AssembledView, not in a monthly PDF.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A5E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Four services. </a:t>
            </a:r>
            <a:pPr algn="l" indent="0" marL="0">
              <a:lnSpc>
                <a:spcPct val="95000"/>
              </a:lnSpc>
              <a:buNone/>
            </a:pPr>
            <a:r>
              <a:rPr lang="en-US" sz="3600" i="1" dirty="0">
                <a:solidFill>
                  <a:srgbClr val="0F1D1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One goal.</a:t>
            </a:r>
            <a:endParaRPr lang="en-US" sz="36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868680" y="31089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Search</a:t>
            </a:r>
            <a:endParaRPr lang="en-US" sz="17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68680" y="3977640"/>
            <a:ext cx="1920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Paid and organic search built on demand signals.</a:t>
            </a:r>
            <a:endParaRPr lang="en-US" sz="1250" dirty="0"/>
          </a:p>
        </p:txBody>
      </p:sp>
      <p:sp>
        <p:nvSpPr>
          <p:cNvPr id="5" name="Text 4"/>
          <p:cNvSpPr/>
          <p:nvPr>
            <p:ph idx="107" type="body" hasCustomPrompt="1"/>
          </p:nvPr>
        </p:nvSpPr>
        <p:spPr>
          <a:xfrm>
            <a:off x="3703320" y="31089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Social</a:t>
            </a:r>
            <a:endParaRPr lang="en-US" sz="1700" dirty="0"/>
          </a:p>
        </p:txBody>
      </p:sp>
      <p:sp>
        <p:nvSpPr>
          <p:cNvPr id="6" name="Text 4"/>
          <p:cNvSpPr/>
          <p:nvPr>
            <p:ph idx="108" type="body" hasCustomPrompt="1"/>
          </p:nvPr>
        </p:nvSpPr>
        <p:spPr>
          <a:xfrm>
            <a:off x="3703320" y="3977640"/>
            <a:ext cx="1920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Paid social and creators that earn attention.</a:t>
            </a:r>
            <a:endParaRPr lang="en-US" sz="1250" dirty="0"/>
          </a:p>
        </p:txBody>
      </p:sp>
      <p:sp>
        <p:nvSpPr>
          <p:cNvPr id="7" name="Text 6"/>
          <p:cNvSpPr/>
          <p:nvPr>
            <p:ph idx="111" type="body" hasCustomPrompt="1"/>
          </p:nvPr>
        </p:nvSpPr>
        <p:spPr>
          <a:xfrm>
            <a:off x="6537960" y="31089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Programmatic</a:t>
            </a:r>
            <a:endParaRPr lang="en-US" sz="1700" dirty="0"/>
          </a:p>
        </p:txBody>
      </p:sp>
      <p:sp>
        <p:nvSpPr>
          <p:cNvPr id="8" name="Text 6"/>
          <p:cNvSpPr/>
          <p:nvPr>
            <p:ph idx="112" type="body" hasCustomPrompt="1"/>
          </p:nvPr>
        </p:nvSpPr>
        <p:spPr>
          <a:xfrm>
            <a:off x="6537960" y="3977640"/>
            <a:ext cx="1920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Video, display and audio bought on quality.</a:t>
            </a:r>
            <a:endParaRPr lang="en-US" sz="1250" dirty="0"/>
          </a:p>
        </p:txBody>
      </p:sp>
      <p:sp>
        <p:nvSpPr>
          <p:cNvPr id="9" name="Text 8"/>
          <p:cNvSpPr/>
          <p:nvPr>
            <p:ph idx="115" type="body" hasCustomPrompt="1"/>
          </p:nvPr>
        </p:nvSpPr>
        <p:spPr>
          <a:xfrm>
            <a:off x="9372600" y="31089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F1D13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Data</a:t>
            </a:r>
            <a:endParaRPr lang="en-US" sz="1700" dirty="0"/>
          </a:p>
        </p:txBody>
      </p:sp>
      <p:sp>
        <p:nvSpPr>
          <p:cNvPr id="10" name="Text 8"/>
          <p:cNvSpPr/>
          <p:nvPr>
            <p:ph idx="116" type="body" hasCustomPrompt="1"/>
          </p:nvPr>
        </p:nvSpPr>
        <p:spPr>
          <a:xfrm>
            <a:off x="9372600" y="3977640"/>
            <a:ext cx="1920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B4A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Measurement, dashboards and insight in AssembledView.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A5E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ssembled Media 05b">
  <a:themeElements>
    <a:clrScheme name="Assembled Media 05b">
      <a:dk1>
        <a:srgbClr val="0F1D13"/>
      </a:dk1>
      <a:lt1>
        <a:srgbClr val="FFFFFF"/>
      </a:lt1>
      <a:dk2>
        <a:srgbClr val="246646"/>
      </a:dk2>
      <a:lt2>
        <a:srgbClr val="EFE9DF"/>
      </a:lt2>
      <a:accent1>
        <a:srgbClr val="B5D337"/>
      </a:accent1>
      <a:accent2>
        <a:srgbClr val="49C7EB"/>
      </a:accent2>
      <a:accent3>
        <a:srgbClr val="246646"/>
      </a:accent3>
      <a:accent4>
        <a:srgbClr val="4E8F6A"/>
      </a:accent4>
      <a:accent5>
        <a:srgbClr val="CFC8BA"/>
      </a:accent5>
      <a:accent6>
        <a:srgbClr val="1A2620"/>
      </a:accent6>
      <a:hlink>
        <a:srgbClr val="246646"/>
      </a:hlink>
      <a:folHlink>
        <a:srgbClr val="4E8F6A"/>
      </a:folHlink>
    </a:clrScheme>
    <a:fontScheme name="Assembled Media 05b">
      <a:majorFont>
        <a:latin typeface="Plus Jakarta Sans Extra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w template luke edit" id="{6AFECDB2-0D3F-4D64-8EDA-DCD095A99CC6}" vid="{CC772BDA-87B0-4EC4-A95A-D7BAF1164C3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783</Words>
  <Application>Microsoft Office PowerPoint</Application>
  <PresentationFormat>Widescreen</PresentationFormat>
  <Paragraphs>195</Paragraphs>
  <Slides>24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Plus Jakarta Sans ExtraBold</vt:lpstr>
      <vt:lpstr>Instrument Serif</vt:lpstr>
      <vt:lpstr>Plus Jakarta Sans</vt:lpstr>
      <vt:lpstr>Assembled Media 05b</vt:lpstr>
      <vt:lpstr>How to use this template.</vt:lpstr>
      <vt:lpstr>FY27 media recommendation.</vt:lpstr>
      <vt:lpstr>Quarterly review.</vt:lpstr>
      <vt:lpstr>Decoding the task.</vt:lpstr>
      <vt:lpstr>Developing the strategy.</vt:lpstr>
      <vt:lpstr>PowerPoint Presentation</vt:lpstr>
      <vt:lpstr>PowerPoint Presentation</vt:lpstr>
      <vt:lpstr>The brief, at a glance.</vt:lpstr>
      <vt:lpstr>YouTube implementation.</vt:lpstr>
      <vt:lpstr>The value we secure.</vt:lpstr>
      <vt:lpstr>Introducing your team.</vt:lpstr>
      <vt:lpstr>Peak pet parents.</vt:lpstr>
      <vt:lpstr>Decode. Develop. Deliver. Optimise.</vt:lpstr>
      <vt:lpstr>Cost per new customer fell every month.</vt:lpstr>
      <vt:lpstr>Next steps.</vt:lpstr>
      <vt:lpstr>Not where to find them. Why they buy.</vt:lpstr>
      <vt:lpstr>Built to change behaviour.</vt:lpstr>
      <vt:lpstr>Header only: build anything here</vt:lpstr>
      <vt:lpstr>Header only: build anything here</vt:lpstr>
      <vt:lpstr>Header only: build anything here</vt:lpstr>
      <vt:lpstr>PowerPoint Presentation</vt:lpstr>
      <vt:lpstr>PowerPoint Presentation</vt:lpstr>
      <vt:lpstr>PowerPoint Presentation</vt:lpstr>
      <vt:lpstr>PowerPoint Presentation</vt:lpstr>
    </vt:vector>
  </TitlesOfParts>
  <Company>Assembled Media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Assembled Media template</dc:title>
  <dc:subject>PptxGenJS Presentation</dc:subject>
  <dc:creator>Assembled Media</dc:creator>
  <cp:lastModifiedBy>Luke Fitzpatrick</cp:lastModifiedBy>
  <cp:revision>3</cp:revision>
  <dcterms:created xsi:type="dcterms:W3CDTF">2026-10-06T22:07:41Z</dcterms:created>
  <dcterms:modified xsi:type="dcterms:W3CDTF">2026-10-06T22:27:51Z</dcterms:modified>
</cp:coreProperties>
</file>